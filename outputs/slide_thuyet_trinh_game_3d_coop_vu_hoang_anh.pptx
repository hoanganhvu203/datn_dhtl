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3" d="100"/>
          <a:sy n="73" d="100"/>
        </p:scale>
        <p:origin x="380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rcRect l="21363" r="21363"/>
          <a:stretch>
            <a:fillRect/>
          </a:stretch>
        </p:blipFill>
        <p:spPr>
          <a:xfrm>
            <a:off x="5810250" y="0"/>
            <a:ext cx="638175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7000B6A9-BC85-4973-899A-8CB85FAC83B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7239000" cy="6858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F65DE53-72DE-4D2F-BC95-C776B3E1F23D}"/>
              </a:ext>
            </a:extLst>
          </p:cNvPr>
          <p:cNvSpPr>
            <a:spLocks noGrp="1"/>
          </p:cNvSpPr>
          <p:nvPr/>
        </p:nvSpPr>
        <p:spPr>
          <a:xfrm>
            <a:off x="400050" y="438150"/>
            <a:ext cx="1143000" cy="66675"/>
          </a:xfrm>
          <a:prstGeom prst="rect">
            <a:avLst/>
          </a:prstGeom>
          <a:solidFill>
            <a:srgbClr val="FF6B35"/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D3FE54A-844E-442B-8E98-73E706E48055}"/>
              </a:ext>
            </a:extLst>
          </p:cNvPr>
          <p:cNvSpPr>
            <a:spLocks noGrp="1"/>
          </p:cNvSpPr>
          <p:nvPr/>
        </p:nvSpPr>
        <p:spPr>
          <a:xfrm>
            <a:off x="400050" y="857250"/>
            <a:ext cx="5619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555555"/>
                </a:solidFill>
                <a:latin typeface="Arial"/>
                <a:ea typeface="Arial"/>
                <a:cs typeface="Arial"/>
              </a:rPr>
              <a:t>THIẾT KẾ VÀ TRIỂN KHAI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381485E-7B57-4E27-9529-56FA7EE1248B}"/>
              </a:ext>
            </a:extLst>
          </p:cNvPr>
          <p:cNvSpPr>
            <a:spLocks noGrp="1"/>
          </p:cNvSpPr>
          <p:nvPr/>
        </p:nvSpPr>
        <p:spPr>
          <a:xfrm>
            <a:off x="400050" y="1409700"/>
            <a:ext cx="619125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4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350" b="1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Game 3D co-op </a:t>
            </a:r>
            <a:r>
              <a:rPr sz="4350" b="1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sinh</a:t>
            </a:r>
            <a:r>
              <a:rPr sz="4350" b="1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4350" b="1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tồn</a:t>
            </a:r>
            <a:r>
              <a:rPr sz="4350" b="1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4350" b="1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đa</a:t>
            </a:r>
            <a:r>
              <a:rPr sz="4350" b="1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4350" b="1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người</a:t>
            </a:r>
            <a:r>
              <a:rPr sz="4350" b="1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4350" b="1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chơi</a:t>
            </a:r>
            <a:endParaRPr sz="4350" b="1" dirty="0">
              <a:solidFill>
                <a:srgbClr val="11111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2B4FCC0-2A1A-44E5-98F7-CC99FA289BA3}"/>
              </a:ext>
            </a:extLst>
          </p:cNvPr>
          <p:cNvSpPr>
            <a:spLocks noGrp="1"/>
          </p:cNvSpPr>
          <p:nvPr/>
        </p:nvSpPr>
        <p:spPr>
          <a:xfrm>
            <a:off x="419100" y="3371850"/>
            <a:ext cx="5334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C6421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C64216"/>
                </a:solidFill>
                <a:latin typeface="Arial"/>
                <a:ea typeface="Arial"/>
                <a:cs typeface="Arial"/>
              </a:rPr>
              <a:t>Theo mô hình client-server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B4AE7D2-5381-46BC-8764-E31E4A736E8C}"/>
              </a:ext>
            </a:extLst>
          </p:cNvPr>
          <p:cNvSpPr>
            <a:spLocks noGrp="1"/>
          </p:cNvSpPr>
          <p:nvPr/>
        </p:nvSpPr>
        <p:spPr>
          <a:xfrm>
            <a:off x="419100" y="5334000"/>
            <a:ext cx="53340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Vũ Hoàng Anh · 64HTTT1 · 2251161947</a:t>
            </a:r>
          </a:p>
          <a:p>
            <a:pPr algn="l">
              <a:defRPr sz="1500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GVHD: TS. Vũ Đức Minh · Hà Nội, 2026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04DC1BB-7FF2-4F54-B070-B89224F03B2A}"/>
              </a:ext>
            </a:extLst>
          </p:cNvPr>
          <p:cNvSpPr>
            <a:spLocks noGrp="1"/>
          </p:cNvSpPr>
          <p:nvPr/>
        </p:nvSpPr>
        <p:spPr>
          <a:xfrm>
            <a:off x="11315700" y="6286500"/>
            <a:ext cx="47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223344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ACD0937C-9D20-4492-AB05-BB9EF61C19B9}"/>
              </a:ext>
            </a:extLst>
          </p:cNvPr>
          <p:cNvSpPr>
            <a:spLocks noGrp="1"/>
          </p:cNvSpPr>
          <p:nvPr/>
        </p:nvSpPr>
        <p:spPr>
          <a:xfrm>
            <a:off x="400050" y="342900"/>
            <a:ext cx="85725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1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Bài toán và mục tiêu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588E741-F695-4E4C-B24B-30191C1C2DA2}"/>
              </a:ext>
            </a:extLst>
          </p:cNvPr>
          <p:cNvSpPr>
            <a:spLocks noGrp="1"/>
          </p:cNvSpPr>
          <p:nvPr/>
        </p:nvSpPr>
        <p:spPr>
          <a:xfrm>
            <a:off x="419100" y="1123950"/>
            <a:ext cx="7048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Từ game offline sang co-op realtime cần giải quyết đồng bộ, dữ liệu và quyền xử lý.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8BAD7C8-5795-4067-B1B2-33DBB770CF4B}"/>
              </a:ext>
            </a:extLst>
          </p:cNvPr>
          <p:cNvSpPr>
            <a:spLocks noGrp="1"/>
          </p:cNvSpPr>
          <p:nvPr/>
        </p:nvSpPr>
        <p:spPr>
          <a:xfrm>
            <a:off x="11315700" y="6286500"/>
            <a:ext cx="47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2BDB68E-7335-4CFD-968D-400A21DB093E}"/>
              </a:ext>
            </a:extLst>
          </p:cNvPr>
          <p:cNvSpPr>
            <a:spLocks noGrp="1"/>
          </p:cNvSpPr>
          <p:nvPr/>
        </p:nvSpPr>
        <p:spPr>
          <a:xfrm>
            <a:off x="400050" y="1981200"/>
            <a:ext cx="3143250" cy="1314450"/>
          </a:xfrm>
          <a:prstGeom prst="rect">
            <a:avLst/>
          </a:prstGeom>
          <a:solidFill>
            <a:srgbClr val="F7F7F7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FCB0755-F031-4A92-8CEC-170198B50CDA}"/>
              </a:ext>
            </a:extLst>
          </p:cNvPr>
          <p:cNvSpPr>
            <a:spLocks noGrp="1"/>
          </p:cNvSpPr>
          <p:nvPr/>
        </p:nvSpPr>
        <p:spPr>
          <a:xfrm>
            <a:off x="647700" y="2152650"/>
            <a:ext cx="26479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FF6B3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F6B35"/>
                </a:solidFill>
                <a:latin typeface="Arial"/>
                <a:ea typeface="Arial"/>
                <a:cs typeface="Arial"/>
              </a:rPr>
              <a:t>2-4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C39470F-DA6E-4D2D-9C95-D8FB3DE03F51}"/>
              </a:ext>
            </a:extLst>
          </p:cNvPr>
          <p:cNvSpPr>
            <a:spLocks noGrp="1"/>
          </p:cNvSpPr>
          <p:nvPr/>
        </p:nvSpPr>
        <p:spPr>
          <a:xfrm>
            <a:off x="647700" y="2781300"/>
            <a:ext cx="26479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người chơi trong một trận co-op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69AB649-F625-4B03-BC9E-30C0DBB49AB8}"/>
              </a:ext>
            </a:extLst>
          </p:cNvPr>
          <p:cNvSpPr>
            <a:spLocks noGrp="1"/>
          </p:cNvSpPr>
          <p:nvPr/>
        </p:nvSpPr>
        <p:spPr>
          <a:xfrm>
            <a:off x="4514850" y="1981200"/>
            <a:ext cx="3143250" cy="1314450"/>
          </a:xfrm>
          <a:prstGeom prst="rect">
            <a:avLst/>
          </a:prstGeom>
          <a:solidFill>
            <a:srgbClr val="F7F7F7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67420EB-1BBD-4BCF-9449-7D4CA67C9D67}"/>
              </a:ext>
            </a:extLst>
          </p:cNvPr>
          <p:cNvSpPr>
            <a:spLocks noGrp="1"/>
          </p:cNvSpPr>
          <p:nvPr/>
        </p:nvSpPr>
        <p:spPr>
          <a:xfrm>
            <a:off x="4762500" y="2152650"/>
            <a:ext cx="26479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FF6B3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F6B35"/>
                </a:solidFill>
                <a:latin typeface="Arial"/>
                <a:ea typeface="Arial"/>
                <a:cs typeface="Arial"/>
              </a:rPr>
              <a:t>low latency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4F1FEFB-129F-4939-98BE-604E9102D3B3}"/>
              </a:ext>
            </a:extLst>
          </p:cNvPr>
          <p:cNvSpPr>
            <a:spLocks noGrp="1"/>
          </p:cNvSpPr>
          <p:nvPr/>
        </p:nvSpPr>
        <p:spPr>
          <a:xfrm>
            <a:off x="4762500" y="2781300"/>
            <a:ext cx="26479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phản hồi điều khiển mượt trong Unity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895A5D3-2C2A-4F61-B625-603AC94C5FD0}"/>
              </a:ext>
            </a:extLst>
          </p:cNvPr>
          <p:cNvSpPr>
            <a:spLocks noGrp="1"/>
          </p:cNvSpPr>
          <p:nvPr/>
        </p:nvSpPr>
        <p:spPr>
          <a:xfrm>
            <a:off x="8629650" y="1981200"/>
            <a:ext cx="3143250" cy="1314450"/>
          </a:xfrm>
          <a:prstGeom prst="rect">
            <a:avLst/>
          </a:prstGeom>
          <a:solidFill>
            <a:srgbClr val="F7F7F7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11DB3A6-2D08-487E-A0AE-CC5ABB1E4B68}"/>
              </a:ext>
            </a:extLst>
          </p:cNvPr>
          <p:cNvSpPr>
            <a:spLocks noGrp="1"/>
          </p:cNvSpPr>
          <p:nvPr/>
        </p:nvSpPr>
        <p:spPr>
          <a:xfrm>
            <a:off x="8877300" y="2152650"/>
            <a:ext cx="26479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FF6B3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F6B35"/>
                </a:solidFill>
                <a:latin typeface="Arial"/>
                <a:ea typeface="Arial"/>
                <a:cs typeface="Arial"/>
              </a:rPr>
              <a:t>data safe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409D19A-670E-4D55-929A-A73D169FF3FD}"/>
              </a:ext>
            </a:extLst>
          </p:cNvPr>
          <p:cNvSpPr>
            <a:spLocks noGrp="1"/>
          </p:cNvSpPr>
          <p:nvPr/>
        </p:nvSpPr>
        <p:spPr>
          <a:xfrm>
            <a:off x="8877300" y="2781300"/>
            <a:ext cx="26479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backend kiểm soát phòng, trận và kết quả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473E8F1-53A8-4F45-AC63-4CDFA7DBB86B}"/>
              </a:ext>
            </a:extLst>
          </p:cNvPr>
          <p:cNvSpPr>
            <a:spLocks noGrp="1"/>
          </p:cNvSpPr>
          <p:nvPr/>
        </p:nvSpPr>
        <p:spPr>
          <a:xfrm>
            <a:off x="876300" y="4162425"/>
            <a:ext cx="133350" cy="133350"/>
          </a:xfrm>
          <a:prstGeom prst="rect">
            <a:avLst/>
          </a:prstGeom>
          <a:solidFill>
            <a:srgbClr val="111111"/>
          </a:solidFill>
          <a:ln w="0">
            <a:noFill/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04AFDFF-CB2B-4110-BB69-FE41EFBCD6F4}"/>
              </a:ext>
            </a:extLst>
          </p:cNvPr>
          <p:cNvSpPr>
            <a:spLocks noGrp="1"/>
          </p:cNvSpPr>
          <p:nvPr/>
        </p:nvSpPr>
        <p:spPr>
          <a:xfrm>
            <a:off x="1162050" y="4095750"/>
            <a:ext cx="9620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Đăng ký, đăng nhập, hồ sơ người chơi, coin và avatar.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13592BA-6059-433A-9825-5DD541096DFC}"/>
              </a:ext>
            </a:extLst>
          </p:cNvPr>
          <p:cNvSpPr>
            <a:spLocks noGrp="1"/>
          </p:cNvSpPr>
          <p:nvPr/>
        </p:nvSpPr>
        <p:spPr>
          <a:xfrm>
            <a:off x="876300" y="4619625"/>
            <a:ext cx="133350" cy="133350"/>
          </a:xfrm>
          <a:prstGeom prst="rect">
            <a:avLst/>
          </a:prstGeom>
          <a:solidFill>
            <a:srgbClr val="111111"/>
          </a:solidFill>
          <a:ln w="0">
            <a:noFill/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253147A-00C5-4BEA-AE26-BDB213FAC0B4}"/>
              </a:ext>
            </a:extLst>
          </p:cNvPr>
          <p:cNvSpPr>
            <a:spLocks noGrp="1"/>
          </p:cNvSpPr>
          <p:nvPr/>
        </p:nvSpPr>
        <p:spPr>
          <a:xfrm>
            <a:off x="1162050" y="4552950"/>
            <a:ext cx="9620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Tạo phòng, nhập mã phòng, sẵn sàng và bắt đầu trận đúng điều kiện.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59A1C39-C5F3-4E39-A523-AE1312699DEA}"/>
              </a:ext>
            </a:extLst>
          </p:cNvPr>
          <p:cNvSpPr>
            <a:spLocks noGrp="1"/>
          </p:cNvSpPr>
          <p:nvPr/>
        </p:nvSpPr>
        <p:spPr>
          <a:xfrm>
            <a:off x="876300" y="5076825"/>
            <a:ext cx="133350" cy="133350"/>
          </a:xfrm>
          <a:prstGeom prst="rect">
            <a:avLst/>
          </a:prstGeom>
          <a:solidFill>
            <a:srgbClr val="111111"/>
          </a:solidFill>
          <a:ln w="0">
            <a:noFill/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0208C5F-52C9-4396-AB3E-BE1CB1D2809A}"/>
              </a:ext>
            </a:extLst>
          </p:cNvPr>
          <p:cNvSpPr>
            <a:spLocks noGrp="1"/>
          </p:cNvSpPr>
          <p:nvPr/>
        </p:nvSpPr>
        <p:spPr>
          <a:xfrm>
            <a:off x="1162050" y="5010150"/>
            <a:ext cx="9620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Đồng bộ vị trí, hành động, máu, kẻ địch, vật phẩm và hồi sinh.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B6D3A88-CD61-4B42-98C1-179ECD9CE5A0}"/>
              </a:ext>
            </a:extLst>
          </p:cNvPr>
          <p:cNvSpPr>
            <a:spLocks noGrp="1"/>
          </p:cNvSpPr>
          <p:nvPr/>
        </p:nvSpPr>
        <p:spPr>
          <a:xfrm>
            <a:off x="876300" y="5534025"/>
            <a:ext cx="133350" cy="133350"/>
          </a:xfrm>
          <a:prstGeom prst="rect">
            <a:avLst/>
          </a:prstGeom>
          <a:solidFill>
            <a:srgbClr val="111111"/>
          </a:solidFill>
          <a:ln w="0">
            <a:noFill/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472F553-17C1-4579-8A70-B98640C98EDA}"/>
              </a:ext>
            </a:extLst>
          </p:cNvPr>
          <p:cNvSpPr>
            <a:spLocks noGrp="1"/>
          </p:cNvSpPr>
          <p:nvPr/>
        </p:nvSpPr>
        <p:spPr>
          <a:xfrm>
            <a:off x="1162050" y="5467350"/>
            <a:ext cx="9620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Lưu kết quả sau trận: kills, damage, downs, revives, thời gian sống.</a:t>
            </a:r>
          </a:p>
        </p:txBody>
      </p:sp>
    </p:spTree>
    <p:extLst>
      <p:ext uri="{BB962C8B-B14F-4D97-AF65-F5344CB8AC3E}">
        <p14:creationId xmlns:p14="http://schemas.microsoft.com/office/powerpoint/2010/main" val="18284608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992317F-4946-428C-893D-7A24DD229C81}"/>
              </a:ext>
            </a:extLst>
          </p:cNvPr>
          <p:cNvSpPr>
            <a:spLocks noGrp="1"/>
          </p:cNvSpPr>
          <p:nvPr/>
        </p:nvSpPr>
        <p:spPr>
          <a:xfrm>
            <a:off x="400050" y="342900"/>
            <a:ext cx="85725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1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Phạm vi hệ thống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F1B21F8-8C7E-4FAF-BD13-EB1D38B52B0E}"/>
              </a:ext>
            </a:extLst>
          </p:cNvPr>
          <p:cNvSpPr>
            <a:spLocks noGrp="1"/>
          </p:cNvSpPr>
          <p:nvPr/>
        </p:nvSpPr>
        <p:spPr>
          <a:xfrm>
            <a:off x="419100" y="1123950"/>
            <a:ext cx="7048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Demo hoàn chỉnh gồm luồng tài khoản, phòng chơi, trận đấu và lịch sử.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4B70168-40ED-4DC5-B425-8F055714EF46}"/>
              </a:ext>
            </a:extLst>
          </p:cNvPr>
          <p:cNvSpPr>
            <a:spLocks noGrp="1"/>
          </p:cNvSpPr>
          <p:nvPr/>
        </p:nvSpPr>
        <p:spPr>
          <a:xfrm>
            <a:off x="11315700" y="6286500"/>
            <a:ext cx="47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13858" y="1638300"/>
            <a:ext cx="4925383" cy="3429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B6B97CD6-42EB-4167-8CE6-6F51B92D7D1B}"/>
              </a:ext>
            </a:extLst>
          </p:cNvPr>
          <p:cNvSpPr>
            <a:spLocks noGrp="1"/>
          </p:cNvSpPr>
          <p:nvPr/>
        </p:nvSpPr>
        <p:spPr>
          <a:xfrm>
            <a:off x="6048375" y="1676400"/>
            <a:ext cx="2095500" cy="666750"/>
          </a:xfrm>
          <a:prstGeom prst="rect">
            <a:avLst/>
          </a:prstGeom>
          <a:solidFill>
            <a:srgbClr val="F7F7F7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B91E5D1-16EB-45D6-A313-4F646409AF79}"/>
              </a:ext>
            </a:extLst>
          </p:cNvPr>
          <p:cNvSpPr>
            <a:spLocks noGrp="1"/>
          </p:cNvSpPr>
          <p:nvPr/>
        </p:nvSpPr>
        <p:spPr>
          <a:xfrm>
            <a:off x="6219825" y="1876425"/>
            <a:ext cx="1752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7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1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Tài </a:t>
            </a:r>
            <a:r>
              <a:rPr sz="1725" b="1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khoản</a:t>
            </a:r>
            <a:endParaRPr sz="1725" b="1" dirty="0">
              <a:solidFill>
                <a:srgbClr val="11111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C39C9BF-E99B-472E-A9A4-4191791B7FBC}"/>
              </a:ext>
            </a:extLst>
          </p:cNvPr>
          <p:cNvSpPr>
            <a:spLocks noGrp="1"/>
          </p:cNvSpPr>
          <p:nvPr/>
        </p:nvSpPr>
        <p:spPr>
          <a:xfrm>
            <a:off x="8524875" y="1676400"/>
            <a:ext cx="2095500" cy="666750"/>
          </a:xfrm>
          <a:prstGeom prst="rect">
            <a:avLst/>
          </a:prstGeom>
          <a:solidFill>
            <a:srgbClr val="F7F7F7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C277606-2E81-4143-AFCE-62619BC084F0}"/>
              </a:ext>
            </a:extLst>
          </p:cNvPr>
          <p:cNvSpPr>
            <a:spLocks noGrp="1"/>
          </p:cNvSpPr>
          <p:nvPr/>
        </p:nvSpPr>
        <p:spPr>
          <a:xfrm>
            <a:off x="8696325" y="1876425"/>
            <a:ext cx="1752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7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1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Phòng</a:t>
            </a:r>
            <a:r>
              <a:rPr sz="1725" b="1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1725" b="1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chơi</a:t>
            </a:r>
            <a:endParaRPr sz="1725" b="1" dirty="0">
              <a:solidFill>
                <a:srgbClr val="11111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B739238-B4CB-4F6D-A6AE-6D88A1F0F756}"/>
              </a:ext>
            </a:extLst>
          </p:cNvPr>
          <p:cNvSpPr>
            <a:spLocks noGrp="1"/>
          </p:cNvSpPr>
          <p:nvPr/>
        </p:nvSpPr>
        <p:spPr>
          <a:xfrm>
            <a:off x="6048375" y="2800350"/>
            <a:ext cx="2095500" cy="666750"/>
          </a:xfrm>
          <a:prstGeom prst="rect">
            <a:avLst/>
          </a:prstGeom>
          <a:solidFill>
            <a:srgbClr val="F7F7F7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352BAF3-87B9-4EC2-9A8A-5105E70331C7}"/>
              </a:ext>
            </a:extLst>
          </p:cNvPr>
          <p:cNvSpPr>
            <a:spLocks noGrp="1"/>
          </p:cNvSpPr>
          <p:nvPr/>
        </p:nvSpPr>
        <p:spPr>
          <a:xfrm>
            <a:off x="6219825" y="3000375"/>
            <a:ext cx="1752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7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1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Ready / Start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4B99ABC-8C75-40C1-9CCA-09439A5DEAD7}"/>
              </a:ext>
            </a:extLst>
          </p:cNvPr>
          <p:cNvSpPr>
            <a:spLocks noGrp="1"/>
          </p:cNvSpPr>
          <p:nvPr/>
        </p:nvSpPr>
        <p:spPr>
          <a:xfrm>
            <a:off x="8524875" y="2800350"/>
            <a:ext cx="2095500" cy="666750"/>
          </a:xfrm>
          <a:prstGeom prst="rect">
            <a:avLst/>
          </a:prstGeom>
          <a:solidFill>
            <a:srgbClr val="111111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ABB57C4-0E07-4736-A092-4C9270779F5C}"/>
              </a:ext>
            </a:extLst>
          </p:cNvPr>
          <p:cNvSpPr>
            <a:spLocks noGrp="1"/>
          </p:cNvSpPr>
          <p:nvPr/>
        </p:nvSpPr>
        <p:spPr>
          <a:xfrm>
            <a:off x="8696325" y="3000375"/>
            <a:ext cx="1752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Gameplay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F431EA8-F473-4CF3-B416-BF79089E65CC}"/>
              </a:ext>
            </a:extLst>
          </p:cNvPr>
          <p:cNvSpPr>
            <a:spLocks noGrp="1"/>
          </p:cNvSpPr>
          <p:nvPr/>
        </p:nvSpPr>
        <p:spPr>
          <a:xfrm>
            <a:off x="6048375" y="3924300"/>
            <a:ext cx="2095500" cy="666750"/>
          </a:xfrm>
          <a:prstGeom prst="rect">
            <a:avLst/>
          </a:prstGeom>
          <a:solidFill>
            <a:srgbClr val="F7F7F7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E8BEF59-FD65-477F-ABE3-00D08F9C7923}"/>
              </a:ext>
            </a:extLst>
          </p:cNvPr>
          <p:cNvSpPr>
            <a:spLocks noGrp="1"/>
          </p:cNvSpPr>
          <p:nvPr/>
        </p:nvSpPr>
        <p:spPr>
          <a:xfrm>
            <a:off x="6219825" y="4124325"/>
            <a:ext cx="1752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7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Kết quả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57E1E0F-A716-4986-B7DC-11A2B06CDDBD}"/>
              </a:ext>
            </a:extLst>
          </p:cNvPr>
          <p:cNvSpPr>
            <a:spLocks noGrp="1"/>
          </p:cNvSpPr>
          <p:nvPr/>
        </p:nvSpPr>
        <p:spPr>
          <a:xfrm>
            <a:off x="8524875" y="3924300"/>
            <a:ext cx="2095500" cy="666750"/>
          </a:xfrm>
          <a:prstGeom prst="rect">
            <a:avLst/>
          </a:prstGeom>
          <a:solidFill>
            <a:srgbClr val="F7F7F7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85664EA-F53A-44A5-8F25-D035542565B7}"/>
              </a:ext>
            </a:extLst>
          </p:cNvPr>
          <p:cNvSpPr>
            <a:spLocks noGrp="1"/>
          </p:cNvSpPr>
          <p:nvPr/>
        </p:nvSpPr>
        <p:spPr>
          <a:xfrm>
            <a:off x="8696325" y="4124325"/>
            <a:ext cx="1752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7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Lịch sử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AB7991A-7135-4A6A-8CD5-FB2A42AF44D2}"/>
              </a:ext>
            </a:extLst>
          </p:cNvPr>
          <p:cNvSpPr>
            <a:spLocks noGrp="1"/>
          </p:cNvSpPr>
          <p:nvPr/>
        </p:nvSpPr>
        <p:spPr>
          <a:xfrm>
            <a:off x="6048375" y="5334000"/>
            <a:ext cx="5238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Các chức năng được kiểm thử theo luồng người dùng thật: login → room → match → gameplay → end_match → leaderboard.</a:t>
            </a:r>
          </a:p>
        </p:txBody>
      </p:sp>
    </p:spTree>
    <p:extLst>
      <p:ext uri="{BB962C8B-B14F-4D97-AF65-F5344CB8AC3E}">
        <p14:creationId xmlns:p14="http://schemas.microsoft.com/office/powerpoint/2010/main" val="17971635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F68D5768-04EE-4E6D-ADFE-BEB416C87068}"/>
              </a:ext>
            </a:extLst>
          </p:cNvPr>
          <p:cNvSpPr>
            <a:spLocks noGrp="1"/>
          </p:cNvSpPr>
          <p:nvPr/>
        </p:nvSpPr>
        <p:spPr>
          <a:xfrm>
            <a:off x="400050" y="342900"/>
            <a:ext cx="85725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1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Kiến trúc tổng thể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67824CA-9300-4951-A59D-6BC26FD99CBD}"/>
              </a:ext>
            </a:extLst>
          </p:cNvPr>
          <p:cNvSpPr>
            <a:spLocks noGrp="1"/>
          </p:cNvSpPr>
          <p:nvPr/>
        </p:nvSpPr>
        <p:spPr>
          <a:xfrm>
            <a:off x="419100" y="1123950"/>
            <a:ext cx="7048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Tách dữ liệu nghiệp vụ cần lưu lâu dài khỏi dữ liệu gameplay thay đổi liên tục.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E392EC1-DA78-42DE-9B68-04A608127EBD}"/>
              </a:ext>
            </a:extLst>
          </p:cNvPr>
          <p:cNvSpPr>
            <a:spLocks noGrp="1"/>
          </p:cNvSpPr>
          <p:nvPr/>
        </p:nvSpPr>
        <p:spPr>
          <a:xfrm>
            <a:off x="11315700" y="6286500"/>
            <a:ext cx="47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E25B8DB-A49E-42B4-9C93-FBE0EBCEE205}"/>
              </a:ext>
            </a:extLst>
          </p:cNvPr>
          <p:cNvSpPr>
            <a:spLocks noGrp="1"/>
          </p:cNvSpPr>
          <p:nvPr/>
        </p:nvSpPr>
        <p:spPr>
          <a:xfrm>
            <a:off x="647700" y="2190750"/>
            <a:ext cx="3143250" cy="1666875"/>
          </a:xfrm>
          <a:prstGeom prst="rect">
            <a:avLst/>
          </a:prstGeom>
          <a:solidFill>
            <a:srgbClr val="111111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5F16150-6F2D-47B0-8EF5-15895F99538F}"/>
              </a:ext>
            </a:extLst>
          </p:cNvPr>
          <p:cNvSpPr>
            <a:spLocks noGrp="1"/>
          </p:cNvSpPr>
          <p:nvPr/>
        </p:nvSpPr>
        <p:spPr>
          <a:xfrm>
            <a:off x="876300" y="2457450"/>
            <a:ext cx="26860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Unity Client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8834C9E-DFA5-493D-882B-29619BEC8A28}"/>
              </a:ext>
            </a:extLst>
          </p:cNvPr>
          <p:cNvSpPr>
            <a:spLocks noGrp="1"/>
          </p:cNvSpPr>
          <p:nvPr/>
        </p:nvSpPr>
        <p:spPr>
          <a:xfrm>
            <a:off x="876300" y="3009900"/>
            <a:ext cx="26860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UI, input, camera, gameplay, HUD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83F88AF-AC80-4F82-815E-22C4116251C2}"/>
              </a:ext>
            </a:extLst>
          </p:cNvPr>
          <p:cNvSpPr>
            <a:spLocks noGrp="1"/>
          </p:cNvSpPr>
          <p:nvPr/>
        </p:nvSpPr>
        <p:spPr>
          <a:xfrm>
            <a:off x="4400550" y="2190750"/>
            <a:ext cx="3143250" cy="1666875"/>
          </a:xfrm>
          <a:prstGeom prst="rect">
            <a:avLst/>
          </a:prstGeom>
          <a:solidFill>
            <a:srgbClr val="F7F7F7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D6EB3A7-DE17-4493-80F3-A485543C238E}"/>
              </a:ext>
            </a:extLst>
          </p:cNvPr>
          <p:cNvSpPr>
            <a:spLocks noGrp="1"/>
          </p:cNvSpPr>
          <p:nvPr/>
        </p:nvSpPr>
        <p:spPr>
          <a:xfrm>
            <a:off x="4629150" y="2457450"/>
            <a:ext cx="26860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Supabase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74374C0-6F1E-4F8A-BA40-0B7083B6093E}"/>
              </a:ext>
            </a:extLst>
          </p:cNvPr>
          <p:cNvSpPr>
            <a:spLocks noGrp="1"/>
          </p:cNvSpPr>
          <p:nvPr/>
        </p:nvSpPr>
        <p:spPr>
          <a:xfrm>
            <a:off x="4629150" y="3009900"/>
            <a:ext cx="26860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Auth, PostgreSQL, REST, Edge Functions, RLS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7259D82-53F9-422C-B965-FD34E76A79F9}"/>
              </a:ext>
            </a:extLst>
          </p:cNvPr>
          <p:cNvSpPr>
            <a:spLocks noGrp="1"/>
          </p:cNvSpPr>
          <p:nvPr/>
        </p:nvSpPr>
        <p:spPr>
          <a:xfrm>
            <a:off x="8153400" y="2190750"/>
            <a:ext cx="3143250" cy="1666875"/>
          </a:xfrm>
          <a:prstGeom prst="rect">
            <a:avLst/>
          </a:prstGeom>
          <a:solidFill>
            <a:srgbClr val="F7F7F7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E8C610E-973A-4466-AC04-885577434DA2}"/>
              </a:ext>
            </a:extLst>
          </p:cNvPr>
          <p:cNvSpPr>
            <a:spLocks noGrp="1"/>
          </p:cNvSpPr>
          <p:nvPr/>
        </p:nvSpPr>
        <p:spPr>
          <a:xfrm>
            <a:off x="8382000" y="2457450"/>
            <a:ext cx="26860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Photon Fusion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0F76000-A420-48F8-A56D-57A2892E3666}"/>
              </a:ext>
            </a:extLst>
          </p:cNvPr>
          <p:cNvSpPr>
            <a:spLocks noGrp="1"/>
          </p:cNvSpPr>
          <p:nvPr/>
        </p:nvSpPr>
        <p:spPr>
          <a:xfrm>
            <a:off x="8382000" y="3009900"/>
            <a:ext cx="26860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NetworkObject, RPC, Networked variables, Shared Mode</a:t>
            </a:r>
          </a:p>
        </p:txBody>
      </p:sp>
      <p:sp>
        <p:nvSpPr>
          <p:cNvPr id="13" name="Straight Connector 12">
            <a:extLst>
              <a:ext uri="{FF2B5EF4-FFF2-40B4-BE49-F238E27FC236}">
                <a16:creationId xmlns:a16="http://schemas.microsoft.com/office/drawing/2014/main" id="{DB625CB3-E1FF-42AD-87B2-0D3EE72BAD1E}"/>
              </a:ext>
            </a:extLst>
          </p:cNvPr>
          <p:cNvSpPr>
            <a:spLocks noGrp="1"/>
          </p:cNvSpPr>
          <p:nvPr/>
        </p:nvSpPr>
        <p:spPr>
          <a:xfrm>
            <a:off x="3790950" y="3028950"/>
            <a:ext cx="609600" cy="0"/>
          </a:xfrm>
          <a:prstGeom prst="line">
            <a:avLst/>
          </a:prstGeom>
          <a:noFill/>
          <a:ln w="19050">
            <a:solidFill>
              <a:srgbClr val="FF6B35"/>
            </a:solidFill>
            <a:prstDash val="solid"/>
          </a:ln>
        </p:spPr>
      </p:sp>
      <p:sp>
        <p:nvSpPr>
          <p:cNvPr id="14" name="Straight Connector 13">
            <a:extLst>
              <a:ext uri="{FF2B5EF4-FFF2-40B4-BE49-F238E27FC236}">
                <a16:creationId xmlns:a16="http://schemas.microsoft.com/office/drawing/2014/main" id="{9DE1EF23-616D-488A-BB7E-B6EF76FF7939}"/>
              </a:ext>
            </a:extLst>
          </p:cNvPr>
          <p:cNvSpPr>
            <a:spLocks noGrp="1"/>
          </p:cNvSpPr>
          <p:nvPr/>
        </p:nvSpPr>
        <p:spPr>
          <a:xfrm>
            <a:off x="7543800" y="3028950"/>
            <a:ext cx="609600" cy="0"/>
          </a:xfrm>
          <a:prstGeom prst="line">
            <a:avLst/>
          </a:prstGeom>
          <a:noFill/>
          <a:ln w="19050">
            <a:solidFill>
              <a:srgbClr val="FF6B35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C85323F-9A82-4472-A92B-8737D15DD0C2}"/>
              </a:ext>
            </a:extLst>
          </p:cNvPr>
          <p:cNvSpPr>
            <a:spLocks noGrp="1"/>
          </p:cNvSpPr>
          <p:nvPr/>
        </p:nvSpPr>
        <p:spPr>
          <a:xfrm>
            <a:off x="3143250" y="4267200"/>
            <a:ext cx="2857500" cy="400050"/>
          </a:xfrm>
          <a:prstGeom prst="rect">
            <a:avLst/>
          </a:prstGeom>
          <a:solidFill>
            <a:srgbClr val="111111"/>
          </a:solidFill>
          <a:ln w="0">
            <a:noFill/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E3A954C-A365-45D6-8B5F-8DFB1FCAFD15}"/>
              </a:ext>
            </a:extLst>
          </p:cNvPr>
          <p:cNvSpPr>
            <a:spLocks noGrp="1"/>
          </p:cNvSpPr>
          <p:nvPr/>
        </p:nvSpPr>
        <p:spPr>
          <a:xfrm>
            <a:off x="3257550" y="4352925"/>
            <a:ext cx="2628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REST / JWT / Edge Functions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0D34FD6-C0CA-46EB-8F56-D25FBEB57BC3}"/>
              </a:ext>
            </a:extLst>
          </p:cNvPr>
          <p:cNvSpPr>
            <a:spLocks noGrp="1"/>
          </p:cNvSpPr>
          <p:nvPr/>
        </p:nvSpPr>
        <p:spPr>
          <a:xfrm>
            <a:off x="6534150" y="4267200"/>
            <a:ext cx="2857500" cy="400050"/>
          </a:xfrm>
          <a:prstGeom prst="rect">
            <a:avLst/>
          </a:prstGeom>
          <a:solidFill>
            <a:srgbClr val="111111"/>
          </a:solidFill>
          <a:ln w="0">
            <a:noFill/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503123B-4E61-46D3-9F4A-23DB7EAF75D4}"/>
              </a:ext>
            </a:extLst>
          </p:cNvPr>
          <p:cNvSpPr>
            <a:spLocks noGrp="1"/>
          </p:cNvSpPr>
          <p:nvPr/>
        </p:nvSpPr>
        <p:spPr>
          <a:xfrm>
            <a:off x="6648450" y="4352925"/>
            <a:ext cx="2628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match_id = SessionName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7C2DFED-43FB-4507-8BC9-B077D4D0299D}"/>
              </a:ext>
            </a:extLst>
          </p:cNvPr>
          <p:cNvSpPr>
            <a:spLocks noGrp="1"/>
          </p:cNvSpPr>
          <p:nvPr/>
        </p:nvSpPr>
        <p:spPr>
          <a:xfrm>
            <a:off x="1104900" y="5257800"/>
            <a:ext cx="99822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Supabase</a:t>
            </a:r>
            <a:r>
              <a:rPr sz="1800" b="1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1800" b="1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kiểm</a:t>
            </a:r>
            <a:r>
              <a:rPr sz="1800" b="1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1800" b="1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soát</a:t>
            </a:r>
            <a:r>
              <a:rPr sz="1800" b="1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account, room, match </a:t>
            </a:r>
            <a:r>
              <a:rPr sz="1800" b="1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và</a:t>
            </a:r>
            <a:r>
              <a:rPr sz="1800" b="1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1800" b="1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kết</a:t>
            </a:r>
            <a:r>
              <a:rPr sz="1800" b="1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1800" b="1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quả</a:t>
            </a:r>
            <a:r>
              <a:rPr sz="1800" b="1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. Photon Fusion </a:t>
            </a:r>
            <a:r>
              <a:rPr sz="1800" b="1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chỉ</a:t>
            </a:r>
            <a:r>
              <a:rPr sz="1800" b="1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1800" b="1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giữ</a:t>
            </a:r>
            <a:r>
              <a:rPr sz="1800" b="1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1800" b="1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trạng</a:t>
            </a:r>
            <a:r>
              <a:rPr sz="1800" b="1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1800" b="1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thái</a:t>
            </a:r>
            <a:r>
              <a:rPr sz="1800" b="1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1800" b="1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realtime</a:t>
            </a:r>
            <a:r>
              <a:rPr sz="1800" b="1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1800" b="1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trong</a:t>
            </a:r>
            <a:r>
              <a:rPr sz="1800" b="1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1800" b="1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phiên</a:t>
            </a:r>
            <a:r>
              <a:rPr sz="1800" b="1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1800" b="1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trận</a:t>
            </a:r>
            <a:r>
              <a:rPr sz="1800" b="1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143672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94EF83CD-3BFD-424B-9DC8-36EA1F59036E}"/>
              </a:ext>
            </a:extLst>
          </p:cNvPr>
          <p:cNvSpPr>
            <a:spLocks noGrp="1"/>
          </p:cNvSpPr>
          <p:nvPr/>
        </p:nvSpPr>
        <p:spPr>
          <a:xfrm>
            <a:off x="400050" y="342900"/>
            <a:ext cx="85725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1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Công nghệ sử dụng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1F344F6-0D2C-42E4-901E-1321D2AD575F}"/>
              </a:ext>
            </a:extLst>
          </p:cNvPr>
          <p:cNvSpPr>
            <a:spLocks noGrp="1"/>
          </p:cNvSpPr>
          <p:nvPr/>
        </p:nvSpPr>
        <p:spPr>
          <a:xfrm>
            <a:off x="419100" y="1123950"/>
            <a:ext cx="7048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Các công cụ được chọn theo đúng vai trò: dựng game, backend nghiệp vụ và realtime networking.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BF9F07B-DBEF-4238-936A-AD92A9DCA729}"/>
              </a:ext>
            </a:extLst>
          </p:cNvPr>
          <p:cNvSpPr>
            <a:spLocks noGrp="1"/>
          </p:cNvSpPr>
          <p:nvPr/>
        </p:nvSpPr>
        <p:spPr>
          <a:xfrm>
            <a:off x="11315700" y="6286500"/>
            <a:ext cx="47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5930679-0CB9-4F9C-8B29-A061F6B0BD43}"/>
              </a:ext>
            </a:extLst>
          </p:cNvPr>
          <p:cNvSpPr>
            <a:spLocks noGrp="1"/>
          </p:cNvSpPr>
          <p:nvPr/>
        </p:nvSpPr>
        <p:spPr>
          <a:xfrm>
            <a:off x="666750" y="1600200"/>
            <a:ext cx="2571750" cy="514350"/>
          </a:xfrm>
          <a:prstGeom prst="rect">
            <a:avLst/>
          </a:prstGeom>
          <a:solidFill>
            <a:srgbClr val="111111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0308635-5D11-47E7-9AE7-C13CE7C5857B}"/>
              </a:ext>
            </a:extLst>
          </p:cNvPr>
          <p:cNvSpPr>
            <a:spLocks noGrp="1"/>
          </p:cNvSpPr>
          <p:nvPr/>
        </p:nvSpPr>
        <p:spPr>
          <a:xfrm>
            <a:off x="3238500" y="1600200"/>
            <a:ext cx="8239125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CC79DA7-49FB-4F51-9272-E3D2CAB1847B}"/>
              </a:ext>
            </a:extLst>
          </p:cNvPr>
          <p:cNvSpPr>
            <a:spLocks noGrp="1"/>
          </p:cNvSpPr>
          <p:nvPr/>
        </p:nvSpPr>
        <p:spPr>
          <a:xfrm>
            <a:off x="876300" y="1733550"/>
            <a:ext cx="21526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Client / Game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711FA19-1700-44BE-BF86-89C3DE25B94D}"/>
              </a:ext>
            </a:extLst>
          </p:cNvPr>
          <p:cNvSpPr>
            <a:spLocks noGrp="1"/>
          </p:cNvSpPr>
          <p:nvPr/>
        </p:nvSpPr>
        <p:spPr>
          <a:xfrm>
            <a:off x="3486150" y="1733550"/>
            <a:ext cx="7734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Unity 6000.3.4f1, C#, URP, UI Toolkit/uGUI, TextMesh Pro, Input System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E6EE2EE-303E-45A8-982A-2E80278213B0}"/>
              </a:ext>
            </a:extLst>
          </p:cNvPr>
          <p:cNvSpPr>
            <a:spLocks noGrp="1"/>
          </p:cNvSpPr>
          <p:nvPr/>
        </p:nvSpPr>
        <p:spPr>
          <a:xfrm>
            <a:off x="666750" y="2247900"/>
            <a:ext cx="2571750" cy="514350"/>
          </a:xfrm>
          <a:prstGeom prst="rect">
            <a:avLst/>
          </a:prstGeom>
          <a:solidFill>
            <a:srgbClr val="F7F7F7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376AF6D-3463-43F7-AEA3-B2BE78E3135C}"/>
              </a:ext>
            </a:extLst>
          </p:cNvPr>
          <p:cNvSpPr>
            <a:spLocks noGrp="1"/>
          </p:cNvSpPr>
          <p:nvPr/>
        </p:nvSpPr>
        <p:spPr>
          <a:xfrm>
            <a:off x="3238500" y="2247900"/>
            <a:ext cx="8239125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5940EE0-5EF1-4D43-AFAC-894553BF4A28}"/>
              </a:ext>
            </a:extLst>
          </p:cNvPr>
          <p:cNvSpPr>
            <a:spLocks noGrp="1"/>
          </p:cNvSpPr>
          <p:nvPr/>
        </p:nvSpPr>
        <p:spPr>
          <a:xfrm>
            <a:off x="876300" y="2381250"/>
            <a:ext cx="21526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Gameplay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C16B623-ABFF-4BA8-B398-E88434D80AF7}"/>
              </a:ext>
            </a:extLst>
          </p:cNvPr>
          <p:cNvSpPr>
            <a:spLocks noGrp="1"/>
          </p:cNvSpPr>
          <p:nvPr/>
        </p:nvSpPr>
        <p:spPr>
          <a:xfrm>
            <a:off x="3486150" y="2381250"/>
            <a:ext cx="7734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Character Controller, DamageCaster, Health, Spawner, PickUp, GameManager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8C6B7B-E211-460B-8121-775D01DCB426}"/>
              </a:ext>
            </a:extLst>
          </p:cNvPr>
          <p:cNvSpPr>
            <a:spLocks noGrp="1"/>
          </p:cNvSpPr>
          <p:nvPr/>
        </p:nvSpPr>
        <p:spPr>
          <a:xfrm>
            <a:off x="666750" y="2895600"/>
            <a:ext cx="2571750" cy="514350"/>
          </a:xfrm>
          <a:prstGeom prst="rect">
            <a:avLst/>
          </a:prstGeom>
          <a:solidFill>
            <a:srgbClr val="111111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FEA4BEA-C122-4DFA-8F91-139086F20071}"/>
              </a:ext>
            </a:extLst>
          </p:cNvPr>
          <p:cNvSpPr>
            <a:spLocks noGrp="1"/>
          </p:cNvSpPr>
          <p:nvPr/>
        </p:nvSpPr>
        <p:spPr>
          <a:xfrm>
            <a:off x="3238500" y="2895600"/>
            <a:ext cx="8239125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BFA319F-EFC6-4F69-81F8-FA072A385D8A}"/>
              </a:ext>
            </a:extLst>
          </p:cNvPr>
          <p:cNvSpPr>
            <a:spLocks noGrp="1"/>
          </p:cNvSpPr>
          <p:nvPr/>
        </p:nvSpPr>
        <p:spPr>
          <a:xfrm>
            <a:off x="876300" y="3028950"/>
            <a:ext cx="21526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AI enemy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CF4FBEC-B782-4BEC-A0FC-7E4CB44A32D3}"/>
              </a:ext>
            </a:extLst>
          </p:cNvPr>
          <p:cNvSpPr>
            <a:spLocks noGrp="1"/>
          </p:cNvSpPr>
          <p:nvPr/>
        </p:nvSpPr>
        <p:spPr>
          <a:xfrm>
            <a:off x="3486150" y="3028950"/>
            <a:ext cx="7734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Unity AI Navigation / NavMesh để tìm đường, chọn mục tiêu, tấn công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7E018E1-C48E-4E75-9DA2-B7CD8A56BFC7}"/>
              </a:ext>
            </a:extLst>
          </p:cNvPr>
          <p:cNvSpPr>
            <a:spLocks noGrp="1"/>
          </p:cNvSpPr>
          <p:nvPr/>
        </p:nvSpPr>
        <p:spPr>
          <a:xfrm>
            <a:off x="666750" y="3543300"/>
            <a:ext cx="2571750" cy="514350"/>
          </a:xfrm>
          <a:prstGeom prst="rect">
            <a:avLst/>
          </a:prstGeom>
          <a:solidFill>
            <a:srgbClr val="F7F7F7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E0D3E60-0867-4354-85DD-BA258F2C5FD2}"/>
              </a:ext>
            </a:extLst>
          </p:cNvPr>
          <p:cNvSpPr>
            <a:spLocks noGrp="1"/>
          </p:cNvSpPr>
          <p:nvPr/>
        </p:nvSpPr>
        <p:spPr>
          <a:xfrm>
            <a:off x="3238500" y="3543300"/>
            <a:ext cx="8239125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FBECEDF-16A3-4ABB-8C93-99EA16A3C14E}"/>
              </a:ext>
            </a:extLst>
          </p:cNvPr>
          <p:cNvSpPr>
            <a:spLocks noGrp="1"/>
          </p:cNvSpPr>
          <p:nvPr/>
        </p:nvSpPr>
        <p:spPr>
          <a:xfrm>
            <a:off x="876300" y="3676650"/>
            <a:ext cx="21526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Multiplayer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F4F529E-692C-4E76-AB00-957272CD9B4B}"/>
              </a:ext>
            </a:extLst>
          </p:cNvPr>
          <p:cNvSpPr>
            <a:spLocks noGrp="1"/>
          </p:cNvSpPr>
          <p:nvPr/>
        </p:nvSpPr>
        <p:spPr>
          <a:xfrm>
            <a:off x="3486150" y="3676650"/>
            <a:ext cx="7734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Photon Fusion Shared Mode, NetworkObject, RPC, Networked variables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C47B661-892E-4599-9231-5504CDA7B200}"/>
              </a:ext>
            </a:extLst>
          </p:cNvPr>
          <p:cNvSpPr>
            <a:spLocks noGrp="1"/>
          </p:cNvSpPr>
          <p:nvPr/>
        </p:nvSpPr>
        <p:spPr>
          <a:xfrm>
            <a:off x="666750" y="4191000"/>
            <a:ext cx="2571750" cy="514350"/>
          </a:xfrm>
          <a:prstGeom prst="rect">
            <a:avLst/>
          </a:prstGeom>
          <a:solidFill>
            <a:srgbClr val="111111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6618ABF-7775-4FAD-A87C-0574295D789A}"/>
              </a:ext>
            </a:extLst>
          </p:cNvPr>
          <p:cNvSpPr>
            <a:spLocks noGrp="1"/>
          </p:cNvSpPr>
          <p:nvPr/>
        </p:nvSpPr>
        <p:spPr>
          <a:xfrm>
            <a:off x="3238500" y="4191000"/>
            <a:ext cx="8239125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FE4678C-6FBE-4F97-9804-44E695B1D56B}"/>
              </a:ext>
            </a:extLst>
          </p:cNvPr>
          <p:cNvSpPr>
            <a:spLocks noGrp="1"/>
          </p:cNvSpPr>
          <p:nvPr/>
        </p:nvSpPr>
        <p:spPr>
          <a:xfrm>
            <a:off x="876300" y="4324350"/>
            <a:ext cx="21526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Backend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7CC1536-0698-4220-81CA-74235E4386B3}"/>
              </a:ext>
            </a:extLst>
          </p:cNvPr>
          <p:cNvSpPr>
            <a:spLocks noGrp="1"/>
          </p:cNvSpPr>
          <p:nvPr/>
        </p:nvSpPr>
        <p:spPr>
          <a:xfrm>
            <a:off x="3486150" y="4324350"/>
            <a:ext cx="7734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Supabase Auth, PostgreSQL, REST API, Realtime, Edge Functions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A743311-0000-4EDA-879F-F15D45D9ACCE}"/>
              </a:ext>
            </a:extLst>
          </p:cNvPr>
          <p:cNvSpPr>
            <a:spLocks noGrp="1"/>
          </p:cNvSpPr>
          <p:nvPr/>
        </p:nvSpPr>
        <p:spPr>
          <a:xfrm>
            <a:off x="666750" y="4838700"/>
            <a:ext cx="2571750" cy="514350"/>
          </a:xfrm>
          <a:prstGeom prst="rect">
            <a:avLst/>
          </a:prstGeom>
          <a:solidFill>
            <a:srgbClr val="F7F7F7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2A06D28-B989-4DA4-993D-22099A878014}"/>
              </a:ext>
            </a:extLst>
          </p:cNvPr>
          <p:cNvSpPr>
            <a:spLocks noGrp="1"/>
          </p:cNvSpPr>
          <p:nvPr/>
        </p:nvSpPr>
        <p:spPr>
          <a:xfrm>
            <a:off x="3238500" y="4838700"/>
            <a:ext cx="8239125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EEDCE07-33FB-490C-862C-055FC499263F}"/>
              </a:ext>
            </a:extLst>
          </p:cNvPr>
          <p:cNvSpPr>
            <a:spLocks noGrp="1"/>
          </p:cNvSpPr>
          <p:nvPr/>
        </p:nvSpPr>
        <p:spPr>
          <a:xfrm>
            <a:off x="876300" y="4972050"/>
            <a:ext cx="21526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Bảo mật / kiểm thử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5E300EB-7DC9-430F-8DE4-3EF5C38DE15F}"/>
              </a:ext>
            </a:extLst>
          </p:cNvPr>
          <p:cNvSpPr>
            <a:spLocks noGrp="1"/>
          </p:cNvSpPr>
          <p:nvPr/>
        </p:nvSpPr>
        <p:spPr>
          <a:xfrm>
            <a:off x="3486150" y="4972050"/>
            <a:ext cx="7734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JWT, Row Level Security, Postman, Supabase Dashboard, Git/GitHub</a:t>
            </a:r>
          </a:p>
        </p:txBody>
      </p:sp>
    </p:spTree>
    <p:extLst>
      <p:ext uri="{BB962C8B-B14F-4D97-AF65-F5344CB8AC3E}">
        <p14:creationId xmlns:p14="http://schemas.microsoft.com/office/powerpoint/2010/main" val="4890685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A0797D8-4B0D-4F86-B57E-9CB6AA04E3AF}"/>
              </a:ext>
            </a:extLst>
          </p:cNvPr>
          <p:cNvSpPr>
            <a:spLocks noGrp="1"/>
          </p:cNvSpPr>
          <p:nvPr/>
        </p:nvSpPr>
        <p:spPr>
          <a:xfrm>
            <a:off x="400050" y="342900"/>
            <a:ext cx="85725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1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Dữ liệu và backend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01F794C-2DED-4AC6-AB8D-FB837D711FF2}"/>
              </a:ext>
            </a:extLst>
          </p:cNvPr>
          <p:cNvSpPr>
            <a:spLocks noGrp="1"/>
          </p:cNvSpPr>
          <p:nvPr/>
        </p:nvSpPr>
        <p:spPr>
          <a:xfrm>
            <a:off x="419100" y="1123950"/>
            <a:ext cx="7048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425" b="0" dirty="0" err="1">
                <a:solidFill>
                  <a:srgbClr val="555555"/>
                </a:solidFill>
                <a:latin typeface="Arial"/>
                <a:ea typeface="Arial"/>
                <a:cs typeface="Arial"/>
              </a:rPr>
              <a:t>Supabase</a:t>
            </a:r>
            <a:r>
              <a:rPr sz="1425" b="0" dirty="0">
                <a:solidFill>
                  <a:srgbClr val="555555"/>
                </a:solidFill>
                <a:latin typeface="Arial"/>
                <a:ea typeface="Arial"/>
                <a:cs typeface="Arial"/>
              </a:rPr>
              <a:t> </a:t>
            </a:r>
            <a:r>
              <a:rPr sz="1425" b="0" dirty="0" err="1">
                <a:solidFill>
                  <a:srgbClr val="555555"/>
                </a:solidFill>
                <a:latin typeface="Arial"/>
                <a:ea typeface="Arial"/>
                <a:cs typeface="Arial"/>
              </a:rPr>
              <a:t>giữ</a:t>
            </a:r>
            <a:r>
              <a:rPr sz="1425" b="0" dirty="0">
                <a:solidFill>
                  <a:srgbClr val="555555"/>
                </a:solidFill>
                <a:latin typeface="Arial"/>
                <a:ea typeface="Arial"/>
                <a:cs typeface="Arial"/>
              </a:rPr>
              <a:t> </a:t>
            </a:r>
            <a:r>
              <a:rPr sz="1425" b="0" dirty="0" err="1">
                <a:solidFill>
                  <a:srgbClr val="555555"/>
                </a:solidFill>
                <a:latin typeface="Arial"/>
                <a:ea typeface="Arial"/>
                <a:cs typeface="Arial"/>
              </a:rPr>
              <a:t>dữ</a:t>
            </a:r>
            <a:r>
              <a:rPr sz="1425" b="0" dirty="0">
                <a:solidFill>
                  <a:srgbClr val="555555"/>
                </a:solidFill>
                <a:latin typeface="Arial"/>
                <a:ea typeface="Arial"/>
                <a:cs typeface="Arial"/>
              </a:rPr>
              <a:t> </a:t>
            </a:r>
            <a:r>
              <a:rPr sz="1425" b="0" dirty="0" err="1">
                <a:solidFill>
                  <a:srgbClr val="555555"/>
                </a:solidFill>
                <a:latin typeface="Arial"/>
                <a:ea typeface="Arial"/>
                <a:cs typeface="Arial"/>
              </a:rPr>
              <a:t>liệu</a:t>
            </a:r>
            <a:r>
              <a:rPr sz="1425" b="0" dirty="0">
                <a:solidFill>
                  <a:srgbClr val="555555"/>
                </a:solidFill>
                <a:latin typeface="Arial"/>
                <a:ea typeface="Arial"/>
                <a:cs typeface="Arial"/>
              </a:rPr>
              <a:t> </a:t>
            </a:r>
            <a:r>
              <a:rPr sz="1425" b="0" dirty="0" err="1">
                <a:solidFill>
                  <a:srgbClr val="555555"/>
                </a:solidFill>
                <a:latin typeface="Arial"/>
                <a:ea typeface="Arial"/>
                <a:cs typeface="Arial"/>
              </a:rPr>
              <a:t>bền</a:t>
            </a:r>
            <a:r>
              <a:rPr sz="1425" b="0" dirty="0">
                <a:solidFill>
                  <a:srgbClr val="555555"/>
                </a:solidFill>
                <a:latin typeface="Arial"/>
                <a:ea typeface="Arial"/>
                <a:cs typeface="Arial"/>
              </a:rPr>
              <a:t> </a:t>
            </a:r>
            <a:r>
              <a:rPr sz="1425" b="0" dirty="0" err="1">
                <a:solidFill>
                  <a:srgbClr val="555555"/>
                </a:solidFill>
                <a:latin typeface="Arial"/>
                <a:ea typeface="Arial"/>
                <a:cs typeface="Arial"/>
              </a:rPr>
              <a:t>vững</a:t>
            </a:r>
            <a:r>
              <a:rPr sz="1425" b="0" dirty="0">
                <a:solidFill>
                  <a:srgbClr val="555555"/>
                </a:solidFill>
                <a:latin typeface="Arial"/>
                <a:ea typeface="Arial"/>
                <a:cs typeface="Arial"/>
              </a:rPr>
              <a:t>; Edge Functions </a:t>
            </a:r>
            <a:r>
              <a:rPr sz="1425" b="0" dirty="0" err="1">
                <a:solidFill>
                  <a:srgbClr val="555555"/>
                </a:solidFill>
                <a:latin typeface="Arial"/>
                <a:ea typeface="Arial"/>
                <a:cs typeface="Arial"/>
              </a:rPr>
              <a:t>kiểm</a:t>
            </a:r>
            <a:r>
              <a:rPr sz="1425" b="0" dirty="0">
                <a:solidFill>
                  <a:srgbClr val="555555"/>
                </a:solidFill>
                <a:latin typeface="Arial"/>
                <a:ea typeface="Arial"/>
                <a:cs typeface="Arial"/>
              </a:rPr>
              <a:t> </a:t>
            </a:r>
            <a:r>
              <a:rPr sz="1425" b="0" dirty="0" err="1">
                <a:solidFill>
                  <a:srgbClr val="555555"/>
                </a:solidFill>
                <a:latin typeface="Arial"/>
                <a:ea typeface="Arial"/>
                <a:cs typeface="Arial"/>
              </a:rPr>
              <a:t>tra</a:t>
            </a:r>
            <a:r>
              <a:rPr sz="1425" b="0" dirty="0">
                <a:solidFill>
                  <a:srgbClr val="555555"/>
                </a:solidFill>
                <a:latin typeface="Arial"/>
                <a:ea typeface="Arial"/>
                <a:cs typeface="Arial"/>
              </a:rPr>
              <a:t> </a:t>
            </a:r>
            <a:r>
              <a:rPr sz="1425" b="0" dirty="0" err="1">
                <a:solidFill>
                  <a:srgbClr val="555555"/>
                </a:solidFill>
                <a:latin typeface="Arial"/>
                <a:ea typeface="Arial"/>
                <a:cs typeface="Arial"/>
              </a:rPr>
              <a:t>quyền</a:t>
            </a:r>
            <a:r>
              <a:rPr sz="1425" b="0" dirty="0">
                <a:solidFill>
                  <a:srgbClr val="555555"/>
                </a:solidFill>
                <a:latin typeface="Arial"/>
                <a:ea typeface="Arial"/>
                <a:cs typeface="Arial"/>
              </a:rPr>
              <a:t> </a:t>
            </a:r>
            <a:r>
              <a:rPr sz="1425" b="0" dirty="0" err="1">
                <a:solidFill>
                  <a:srgbClr val="555555"/>
                </a:solidFill>
                <a:latin typeface="Arial"/>
                <a:ea typeface="Arial"/>
                <a:cs typeface="Arial"/>
              </a:rPr>
              <a:t>trước</a:t>
            </a:r>
            <a:r>
              <a:rPr sz="1425" b="0" dirty="0">
                <a:solidFill>
                  <a:srgbClr val="555555"/>
                </a:solidFill>
                <a:latin typeface="Arial"/>
                <a:ea typeface="Arial"/>
                <a:cs typeface="Arial"/>
              </a:rPr>
              <a:t> </a:t>
            </a:r>
            <a:r>
              <a:rPr sz="1425" b="0" dirty="0" err="1">
                <a:solidFill>
                  <a:srgbClr val="555555"/>
                </a:solidFill>
                <a:latin typeface="Arial"/>
                <a:ea typeface="Arial"/>
                <a:cs typeface="Arial"/>
              </a:rPr>
              <a:t>khi</a:t>
            </a:r>
            <a:r>
              <a:rPr sz="1425" b="0" dirty="0">
                <a:solidFill>
                  <a:srgbClr val="555555"/>
                </a:solidFill>
                <a:latin typeface="Arial"/>
                <a:ea typeface="Arial"/>
                <a:cs typeface="Arial"/>
              </a:rPr>
              <a:t> </a:t>
            </a:r>
            <a:r>
              <a:rPr sz="1425" b="0" dirty="0" err="1">
                <a:solidFill>
                  <a:srgbClr val="555555"/>
                </a:solidFill>
                <a:latin typeface="Arial"/>
                <a:ea typeface="Arial"/>
                <a:cs typeface="Arial"/>
              </a:rPr>
              <a:t>ghi</a:t>
            </a:r>
            <a:r>
              <a:rPr sz="1425" b="0" dirty="0">
                <a:solidFill>
                  <a:srgbClr val="555555"/>
                </a:solidFill>
                <a:latin typeface="Arial"/>
                <a:ea typeface="Arial"/>
                <a:cs typeface="Arial"/>
              </a:rPr>
              <a:t> </a:t>
            </a:r>
            <a:r>
              <a:rPr sz="1425" b="0" dirty="0" err="1">
                <a:solidFill>
                  <a:srgbClr val="555555"/>
                </a:solidFill>
                <a:latin typeface="Arial"/>
                <a:ea typeface="Arial"/>
                <a:cs typeface="Arial"/>
              </a:rPr>
              <a:t>dữ</a:t>
            </a:r>
            <a:r>
              <a:rPr sz="1425" b="0" dirty="0">
                <a:solidFill>
                  <a:srgbClr val="555555"/>
                </a:solidFill>
                <a:latin typeface="Arial"/>
                <a:ea typeface="Arial"/>
                <a:cs typeface="Arial"/>
              </a:rPr>
              <a:t> </a:t>
            </a:r>
            <a:r>
              <a:rPr sz="1425" b="0" dirty="0" err="1">
                <a:solidFill>
                  <a:srgbClr val="555555"/>
                </a:solidFill>
                <a:latin typeface="Arial"/>
                <a:ea typeface="Arial"/>
                <a:cs typeface="Arial"/>
              </a:rPr>
              <a:t>liệu</a:t>
            </a:r>
            <a:r>
              <a:rPr sz="1425" b="0" dirty="0">
                <a:solidFill>
                  <a:srgbClr val="555555"/>
                </a:solidFill>
                <a:latin typeface="Arial"/>
                <a:ea typeface="Arial"/>
                <a:cs typeface="Arial"/>
              </a:rPr>
              <a:t> </a:t>
            </a:r>
            <a:r>
              <a:rPr sz="1425" b="0" dirty="0" err="1">
                <a:solidFill>
                  <a:srgbClr val="555555"/>
                </a:solidFill>
                <a:latin typeface="Arial"/>
                <a:ea typeface="Arial"/>
                <a:cs typeface="Arial"/>
              </a:rPr>
              <a:t>quan</a:t>
            </a:r>
            <a:r>
              <a:rPr sz="1425" b="0" dirty="0">
                <a:solidFill>
                  <a:srgbClr val="555555"/>
                </a:solidFill>
                <a:latin typeface="Arial"/>
                <a:ea typeface="Arial"/>
                <a:cs typeface="Arial"/>
              </a:rPr>
              <a:t> </a:t>
            </a:r>
            <a:r>
              <a:rPr sz="1425" b="0" dirty="0" err="1">
                <a:solidFill>
                  <a:srgbClr val="555555"/>
                </a:solidFill>
                <a:latin typeface="Arial"/>
                <a:ea typeface="Arial"/>
                <a:cs typeface="Arial"/>
              </a:rPr>
              <a:t>trọng</a:t>
            </a:r>
            <a:r>
              <a:rPr sz="1425" b="0" dirty="0">
                <a:solidFill>
                  <a:srgbClr val="555555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DCFEEAC-10E5-4819-8942-E404E00D2A56}"/>
              </a:ext>
            </a:extLst>
          </p:cNvPr>
          <p:cNvSpPr>
            <a:spLocks noGrp="1"/>
          </p:cNvSpPr>
          <p:nvPr/>
        </p:nvSpPr>
        <p:spPr>
          <a:xfrm>
            <a:off x="11315700" y="6286500"/>
            <a:ext cx="47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57200" y="1675966"/>
            <a:ext cx="5334000" cy="3410819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30387FB8-A1E1-4B84-949B-419DC8E675F8}"/>
              </a:ext>
            </a:extLst>
          </p:cNvPr>
          <p:cNvSpPr>
            <a:spLocks noGrp="1"/>
          </p:cNvSpPr>
          <p:nvPr/>
        </p:nvSpPr>
        <p:spPr>
          <a:xfrm>
            <a:off x="6324600" y="1743075"/>
            <a:ext cx="133350" cy="133350"/>
          </a:xfrm>
          <a:prstGeom prst="rect">
            <a:avLst/>
          </a:prstGeom>
          <a:solidFill>
            <a:srgbClr val="111111"/>
          </a:solidFill>
          <a:ln w="0">
            <a:noFill/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2702995-6074-4F4A-AE0E-25803EF4F7DE}"/>
              </a:ext>
            </a:extLst>
          </p:cNvPr>
          <p:cNvSpPr>
            <a:spLocks noGrp="1"/>
          </p:cNvSpPr>
          <p:nvPr/>
        </p:nvSpPr>
        <p:spPr>
          <a:xfrm>
            <a:off x="6610350" y="1676400"/>
            <a:ext cx="481012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Bảng chính: users, rooms, room_players, matches, match_players.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B5516FC-31D0-4445-9643-907CB9EBC898}"/>
              </a:ext>
            </a:extLst>
          </p:cNvPr>
          <p:cNvSpPr>
            <a:spLocks noGrp="1"/>
          </p:cNvSpPr>
          <p:nvPr/>
        </p:nvSpPr>
        <p:spPr>
          <a:xfrm>
            <a:off x="6324600" y="2581275"/>
            <a:ext cx="133350" cy="133350"/>
          </a:xfrm>
          <a:prstGeom prst="rect">
            <a:avLst/>
          </a:prstGeom>
          <a:solidFill>
            <a:srgbClr val="111111"/>
          </a:solidFill>
          <a:ln w="0">
            <a:noFill/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30A6A53-6000-411C-A757-4732A67FF4D2}"/>
              </a:ext>
            </a:extLst>
          </p:cNvPr>
          <p:cNvSpPr>
            <a:spLocks noGrp="1"/>
          </p:cNvSpPr>
          <p:nvPr/>
        </p:nvSpPr>
        <p:spPr>
          <a:xfrm>
            <a:off x="6610350" y="2514600"/>
            <a:ext cx="4810125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Edge Functions: </a:t>
            </a:r>
            <a:r>
              <a:rPr sz="1575" b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create_room</a:t>
            </a:r>
            <a:r>
              <a:rPr sz="1575" b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, </a:t>
            </a:r>
            <a:r>
              <a:rPr sz="1575" b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join_room</a:t>
            </a:r>
            <a:r>
              <a:rPr sz="1575" b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, </a:t>
            </a:r>
            <a:r>
              <a:rPr sz="1575" b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set_ready</a:t>
            </a:r>
            <a:r>
              <a:rPr sz="1575" b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, </a:t>
            </a:r>
            <a:r>
              <a:rPr sz="1575" b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start_match</a:t>
            </a:r>
            <a:r>
              <a:rPr sz="1575" b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, </a:t>
            </a:r>
            <a:r>
              <a:rPr sz="1575" b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end_match</a:t>
            </a:r>
            <a:r>
              <a:rPr sz="1575" b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, </a:t>
            </a:r>
            <a:r>
              <a:rPr sz="1575" b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get_match_history</a:t>
            </a:r>
            <a:r>
              <a:rPr sz="1575" b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AEBAC98-57E7-41F4-A57D-C8F4D5A91D38}"/>
              </a:ext>
            </a:extLst>
          </p:cNvPr>
          <p:cNvSpPr>
            <a:spLocks noGrp="1"/>
          </p:cNvSpPr>
          <p:nvPr/>
        </p:nvSpPr>
        <p:spPr>
          <a:xfrm>
            <a:off x="6324600" y="3419475"/>
            <a:ext cx="133350" cy="133350"/>
          </a:xfrm>
          <a:prstGeom prst="rect">
            <a:avLst/>
          </a:prstGeom>
          <a:solidFill>
            <a:srgbClr val="111111"/>
          </a:solidFill>
          <a:ln w="0">
            <a:noFill/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3F9C8C3-3B02-404F-B74C-A0C867AABD7A}"/>
              </a:ext>
            </a:extLst>
          </p:cNvPr>
          <p:cNvSpPr>
            <a:spLocks noGrp="1"/>
          </p:cNvSpPr>
          <p:nvPr/>
        </p:nvSpPr>
        <p:spPr>
          <a:xfrm>
            <a:off x="6610350" y="3352800"/>
            <a:ext cx="4810125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Ràng</a:t>
            </a:r>
            <a:r>
              <a:rPr sz="1575" b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1575" b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buộc</a:t>
            </a:r>
            <a:r>
              <a:rPr sz="1575" b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unique </a:t>
            </a:r>
            <a:r>
              <a:rPr sz="1575" b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theo</a:t>
            </a:r>
            <a:r>
              <a:rPr sz="1575" b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1575" b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room_code</a:t>
            </a:r>
            <a:r>
              <a:rPr sz="1575" b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, </a:t>
            </a:r>
            <a:r>
              <a:rPr sz="1575" b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room_id-user_id</a:t>
            </a:r>
            <a:r>
              <a:rPr sz="1575" b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, </a:t>
            </a:r>
            <a:r>
              <a:rPr sz="1575" b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match_id-user_id</a:t>
            </a:r>
            <a:r>
              <a:rPr sz="1575" b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1575" b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giúp</a:t>
            </a:r>
            <a:r>
              <a:rPr sz="1575" b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1575" b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tránh</a:t>
            </a:r>
            <a:r>
              <a:rPr sz="1575" b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1575" b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dữ</a:t>
            </a:r>
            <a:r>
              <a:rPr sz="1575" b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1575" b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liệu</a:t>
            </a:r>
            <a:r>
              <a:rPr sz="1575" b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1575" b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trùng</a:t>
            </a:r>
            <a:r>
              <a:rPr sz="1575" b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954A7EB-279E-444E-9075-6AFAC256C9EC}"/>
              </a:ext>
            </a:extLst>
          </p:cNvPr>
          <p:cNvSpPr>
            <a:spLocks noGrp="1"/>
          </p:cNvSpPr>
          <p:nvPr/>
        </p:nvSpPr>
        <p:spPr>
          <a:xfrm>
            <a:off x="6324600" y="4257675"/>
            <a:ext cx="133350" cy="133350"/>
          </a:xfrm>
          <a:prstGeom prst="rect">
            <a:avLst/>
          </a:prstGeom>
          <a:solidFill>
            <a:srgbClr val="111111"/>
          </a:solidFill>
          <a:ln w="0">
            <a:noFill/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B111A5D-D4DC-42E3-A622-B8AE67D75030}"/>
              </a:ext>
            </a:extLst>
          </p:cNvPr>
          <p:cNvSpPr>
            <a:spLocks noGrp="1"/>
          </p:cNvSpPr>
          <p:nvPr/>
        </p:nvSpPr>
        <p:spPr>
          <a:xfrm>
            <a:off x="6610350" y="4191000"/>
            <a:ext cx="48101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JWT và RLS giới hạn dữ liệu theo người dùng và phòng/trận mà họ tham gia.</a:t>
            </a:r>
          </a:p>
        </p:txBody>
      </p:sp>
    </p:spTree>
    <p:extLst>
      <p:ext uri="{BB962C8B-B14F-4D97-AF65-F5344CB8AC3E}">
        <p14:creationId xmlns:p14="http://schemas.microsoft.com/office/powerpoint/2010/main" val="1833699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907BD47-B1DD-43F5-9A04-F653DFE668C9}"/>
              </a:ext>
            </a:extLst>
          </p:cNvPr>
          <p:cNvSpPr>
            <a:spLocks noGrp="1"/>
          </p:cNvSpPr>
          <p:nvPr/>
        </p:nvSpPr>
        <p:spPr>
          <a:xfrm>
            <a:off x="400050" y="342900"/>
            <a:ext cx="85725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1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Luồng đăng nhập → phòng → trận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0D29375-3BDE-408F-965E-70F7F6E6124D}"/>
              </a:ext>
            </a:extLst>
          </p:cNvPr>
          <p:cNvSpPr>
            <a:spLocks noGrp="1"/>
          </p:cNvSpPr>
          <p:nvPr/>
        </p:nvSpPr>
        <p:spPr>
          <a:xfrm>
            <a:off x="419100" y="1123950"/>
            <a:ext cx="7048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425" b="0" dirty="0" err="1">
                <a:solidFill>
                  <a:srgbClr val="555555"/>
                </a:solidFill>
                <a:latin typeface="Arial"/>
                <a:ea typeface="Arial"/>
                <a:cs typeface="Arial"/>
              </a:rPr>
              <a:t>Người</a:t>
            </a:r>
            <a:r>
              <a:rPr sz="1425" b="0" dirty="0">
                <a:solidFill>
                  <a:srgbClr val="555555"/>
                </a:solidFill>
                <a:latin typeface="Arial"/>
                <a:ea typeface="Arial"/>
                <a:cs typeface="Arial"/>
              </a:rPr>
              <a:t> </a:t>
            </a:r>
            <a:r>
              <a:rPr sz="1425" b="0" dirty="0" err="1">
                <a:solidFill>
                  <a:srgbClr val="555555"/>
                </a:solidFill>
                <a:latin typeface="Arial"/>
                <a:ea typeface="Arial"/>
                <a:cs typeface="Arial"/>
              </a:rPr>
              <a:t>chơi</a:t>
            </a:r>
            <a:r>
              <a:rPr sz="1425" b="0" dirty="0">
                <a:solidFill>
                  <a:srgbClr val="555555"/>
                </a:solidFill>
                <a:latin typeface="Arial"/>
                <a:ea typeface="Arial"/>
                <a:cs typeface="Arial"/>
              </a:rPr>
              <a:t> </a:t>
            </a:r>
            <a:r>
              <a:rPr sz="1425" b="0" dirty="0" err="1">
                <a:solidFill>
                  <a:srgbClr val="555555"/>
                </a:solidFill>
                <a:latin typeface="Arial"/>
                <a:ea typeface="Arial"/>
                <a:cs typeface="Arial"/>
              </a:rPr>
              <a:t>đi</a:t>
            </a:r>
            <a:r>
              <a:rPr sz="1425" b="0" dirty="0">
                <a:solidFill>
                  <a:srgbClr val="555555"/>
                </a:solidFill>
                <a:latin typeface="Arial"/>
                <a:ea typeface="Arial"/>
                <a:cs typeface="Arial"/>
              </a:rPr>
              <a:t> qua </a:t>
            </a:r>
            <a:r>
              <a:rPr sz="1425" b="0" dirty="0" err="1">
                <a:solidFill>
                  <a:srgbClr val="555555"/>
                </a:solidFill>
                <a:latin typeface="Arial"/>
                <a:ea typeface="Arial"/>
                <a:cs typeface="Arial"/>
              </a:rPr>
              <a:t>các</a:t>
            </a:r>
            <a:r>
              <a:rPr sz="1425" b="0" dirty="0">
                <a:solidFill>
                  <a:srgbClr val="555555"/>
                </a:solidFill>
                <a:latin typeface="Arial"/>
                <a:ea typeface="Arial"/>
                <a:cs typeface="Arial"/>
              </a:rPr>
              <a:t> </a:t>
            </a:r>
            <a:r>
              <a:rPr sz="1425" b="0" dirty="0" err="1">
                <a:solidFill>
                  <a:srgbClr val="555555"/>
                </a:solidFill>
                <a:latin typeface="Arial"/>
                <a:ea typeface="Arial"/>
                <a:cs typeface="Arial"/>
              </a:rPr>
              <a:t>mốc</a:t>
            </a:r>
            <a:r>
              <a:rPr sz="1425" b="0" dirty="0">
                <a:solidFill>
                  <a:srgbClr val="555555"/>
                </a:solidFill>
                <a:latin typeface="Arial"/>
                <a:ea typeface="Arial"/>
                <a:cs typeface="Arial"/>
              </a:rPr>
              <a:t> </a:t>
            </a:r>
            <a:r>
              <a:rPr sz="1425" b="0" dirty="0" err="1">
                <a:solidFill>
                  <a:srgbClr val="555555"/>
                </a:solidFill>
                <a:latin typeface="Arial"/>
                <a:ea typeface="Arial"/>
                <a:cs typeface="Arial"/>
              </a:rPr>
              <a:t>nghiệp</a:t>
            </a:r>
            <a:r>
              <a:rPr sz="1425" b="0" dirty="0">
                <a:solidFill>
                  <a:srgbClr val="555555"/>
                </a:solidFill>
                <a:latin typeface="Arial"/>
                <a:ea typeface="Arial"/>
                <a:cs typeface="Arial"/>
              </a:rPr>
              <a:t> </a:t>
            </a:r>
            <a:r>
              <a:rPr sz="1425" b="0" dirty="0" err="1">
                <a:solidFill>
                  <a:srgbClr val="555555"/>
                </a:solidFill>
                <a:latin typeface="Arial"/>
                <a:ea typeface="Arial"/>
                <a:cs typeface="Arial"/>
              </a:rPr>
              <a:t>vụ</a:t>
            </a:r>
            <a:r>
              <a:rPr sz="1425" b="0" dirty="0">
                <a:solidFill>
                  <a:srgbClr val="555555"/>
                </a:solidFill>
                <a:latin typeface="Arial"/>
                <a:ea typeface="Arial"/>
                <a:cs typeface="Arial"/>
              </a:rPr>
              <a:t> </a:t>
            </a:r>
            <a:r>
              <a:rPr sz="1425" b="0" dirty="0" err="1">
                <a:solidFill>
                  <a:srgbClr val="555555"/>
                </a:solidFill>
                <a:latin typeface="Arial"/>
                <a:ea typeface="Arial"/>
                <a:cs typeface="Arial"/>
              </a:rPr>
              <a:t>trước</a:t>
            </a:r>
            <a:r>
              <a:rPr sz="1425" b="0" dirty="0">
                <a:solidFill>
                  <a:srgbClr val="555555"/>
                </a:solidFill>
                <a:latin typeface="Arial"/>
                <a:ea typeface="Arial"/>
                <a:cs typeface="Arial"/>
              </a:rPr>
              <a:t> </a:t>
            </a:r>
            <a:r>
              <a:rPr sz="1425" b="0" dirty="0" err="1">
                <a:solidFill>
                  <a:srgbClr val="555555"/>
                </a:solidFill>
                <a:latin typeface="Arial"/>
                <a:ea typeface="Arial"/>
                <a:cs typeface="Arial"/>
              </a:rPr>
              <a:t>khi</a:t>
            </a:r>
            <a:r>
              <a:rPr sz="1425" b="0" dirty="0">
                <a:solidFill>
                  <a:srgbClr val="555555"/>
                </a:solidFill>
                <a:latin typeface="Arial"/>
                <a:ea typeface="Arial"/>
                <a:cs typeface="Arial"/>
              </a:rPr>
              <a:t> </a:t>
            </a:r>
            <a:r>
              <a:rPr sz="1425" b="0" dirty="0" err="1">
                <a:solidFill>
                  <a:srgbClr val="555555"/>
                </a:solidFill>
                <a:latin typeface="Arial"/>
                <a:ea typeface="Arial"/>
                <a:cs typeface="Arial"/>
              </a:rPr>
              <a:t>vào</a:t>
            </a:r>
            <a:r>
              <a:rPr sz="1425" b="0" dirty="0">
                <a:solidFill>
                  <a:srgbClr val="555555"/>
                </a:solidFill>
                <a:latin typeface="Arial"/>
                <a:ea typeface="Arial"/>
                <a:cs typeface="Arial"/>
              </a:rPr>
              <a:t> </a:t>
            </a:r>
            <a:r>
              <a:rPr sz="1425" b="0" dirty="0" err="1">
                <a:solidFill>
                  <a:srgbClr val="555555"/>
                </a:solidFill>
                <a:latin typeface="Arial"/>
                <a:ea typeface="Arial"/>
                <a:cs typeface="Arial"/>
              </a:rPr>
              <a:t>phiên</a:t>
            </a:r>
            <a:r>
              <a:rPr sz="1425" b="0" dirty="0">
                <a:solidFill>
                  <a:srgbClr val="555555"/>
                </a:solidFill>
                <a:latin typeface="Arial"/>
                <a:ea typeface="Arial"/>
                <a:cs typeface="Arial"/>
              </a:rPr>
              <a:t> Photon Fusion.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9A368E6-9CA7-49C1-AEB3-3AA3146AA0C3}"/>
              </a:ext>
            </a:extLst>
          </p:cNvPr>
          <p:cNvSpPr>
            <a:spLocks noGrp="1"/>
          </p:cNvSpPr>
          <p:nvPr/>
        </p:nvSpPr>
        <p:spPr>
          <a:xfrm>
            <a:off x="11315700" y="6286500"/>
            <a:ext cx="47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pic>
        <p:nvPicPr>
          <p:cNvPr id="25" name="Picture 24"/>
          <p:cNvPicPr>
            <a:picLocks noChangeAspect="1"/>
          </p:cNvPicPr>
          <p:nvPr/>
        </p:nvPicPr>
        <p:blipFill>
          <a:blip r:embed="rId3"/>
          <a:srcRect t="82" b="82"/>
          <a:stretch>
            <a:fillRect/>
          </a:stretch>
        </p:blipFill>
        <p:spPr>
          <a:xfrm>
            <a:off x="495300" y="1524000"/>
            <a:ext cx="2857500" cy="2190750"/>
          </a:xfrm>
          <a:prstGeom prst="rect">
            <a:avLst/>
          </a:prstGeom>
        </p:spPr>
      </p:pic>
      <p:pic>
        <p:nvPicPr>
          <p:cNvPr id="26" name="Picture 25"/>
          <p:cNvPicPr>
            <a:picLocks noChangeAspect="1"/>
          </p:cNvPicPr>
          <p:nvPr/>
        </p:nvPicPr>
        <p:blipFill>
          <a:blip r:embed="rId4"/>
          <a:srcRect l="6979" r="6979"/>
          <a:stretch>
            <a:fillRect/>
          </a:stretch>
        </p:blipFill>
        <p:spPr>
          <a:xfrm>
            <a:off x="4171950" y="1524000"/>
            <a:ext cx="3333750" cy="2190750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/>
        </p:nvPicPr>
        <p:blipFill>
          <a:blip r:embed="rId5"/>
          <a:srcRect l="4574" r="4574"/>
          <a:stretch>
            <a:fillRect/>
          </a:stretch>
        </p:blipFill>
        <p:spPr>
          <a:xfrm>
            <a:off x="8324850" y="1524000"/>
            <a:ext cx="3333750" cy="219075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DC66BDCB-06E2-4DC8-A063-3ADF346977AC}"/>
              </a:ext>
            </a:extLst>
          </p:cNvPr>
          <p:cNvSpPr>
            <a:spLocks noGrp="1"/>
          </p:cNvSpPr>
          <p:nvPr/>
        </p:nvSpPr>
        <p:spPr>
          <a:xfrm>
            <a:off x="1143000" y="4495800"/>
            <a:ext cx="1143000" cy="400050"/>
          </a:xfrm>
          <a:prstGeom prst="rect">
            <a:avLst/>
          </a:prstGeom>
          <a:solidFill>
            <a:srgbClr val="111111"/>
          </a:solidFill>
          <a:ln w="0">
            <a:noFill/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5CD3B78-804E-4781-BC78-45D1E768969A}"/>
              </a:ext>
            </a:extLst>
          </p:cNvPr>
          <p:cNvSpPr>
            <a:spLocks noGrp="1"/>
          </p:cNvSpPr>
          <p:nvPr/>
        </p:nvSpPr>
        <p:spPr>
          <a:xfrm>
            <a:off x="1257300" y="4581525"/>
            <a:ext cx="914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Login</a:t>
            </a:r>
          </a:p>
        </p:txBody>
      </p:sp>
      <p:sp>
        <p:nvSpPr>
          <p:cNvPr id="9" name="Straight Connector 8">
            <a:extLst>
              <a:ext uri="{FF2B5EF4-FFF2-40B4-BE49-F238E27FC236}">
                <a16:creationId xmlns:a16="http://schemas.microsoft.com/office/drawing/2014/main" id="{0FFB888B-E12F-464C-B633-57F3FFE6D132}"/>
              </a:ext>
            </a:extLst>
          </p:cNvPr>
          <p:cNvSpPr>
            <a:spLocks noGrp="1"/>
          </p:cNvSpPr>
          <p:nvPr/>
        </p:nvSpPr>
        <p:spPr>
          <a:xfrm>
            <a:off x="2286000" y="4695825"/>
            <a:ext cx="2381250" cy="0"/>
          </a:xfrm>
          <a:prstGeom prst="line">
            <a:avLst/>
          </a:prstGeom>
          <a:noFill/>
          <a:ln w="19050">
            <a:solidFill>
              <a:srgbClr val="FF6B35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225C189-8131-42CC-855E-30C40A6238AE}"/>
              </a:ext>
            </a:extLst>
          </p:cNvPr>
          <p:cNvSpPr>
            <a:spLocks noGrp="1"/>
          </p:cNvSpPr>
          <p:nvPr/>
        </p:nvSpPr>
        <p:spPr>
          <a:xfrm>
            <a:off x="4667250" y="4495800"/>
            <a:ext cx="1143000" cy="400050"/>
          </a:xfrm>
          <a:prstGeom prst="rect">
            <a:avLst/>
          </a:prstGeom>
          <a:solidFill>
            <a:srgbClr val="111111"/>
          </a:solidFill>
          <a:ln w="0">
            <a:noFill/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4588850-E907-409E-81C0-6A99C63D065C}"/>
              </a:ext>
            </a:extLst>
          </p:cNvPr>
          <p:cNvSpPr>
            <a:spLocks noGrp="1"/>
          </p:cNvSpPr>
          <p:nvPr/>
        </p:nvSpPr>
        <p:spPr>
          <a:xfrm>
            <a:off x="4781550" y="4581525"/>
            <a:ext cx="914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Room</a:t>
            </a:r>
          </a:p>
        </p:txBody>
      </p:sp>
      <p:sp>
        <p:nvSpPr>
          <p:cNvPr id="12" name="Straight Connector 11">
            <a:extLst>
              <a:ext uri="{FF2B5EF4-FFF2-40B4-BE49-F238E27FC236}">
                <a16:creationId xmlns:a16="http://schemas.microsoft.com/office/drawing/2014/main" id="{856CC4D7-B968-4EF2-835C-3DB2196A2E0D}"/>
              </a:ext>
            </a:extLst>
          </p:cNvPr>
          <p:cNvSpPr>
            <a:spLocks noGrp="1"/>
          </p:cNvSpPr>
          <p:nvPr/>
        </p:nvSpPr>
        <p:spPr>
          <a:xfrm>
            <a:off x="5810250" y="4695825"/>
            <a:ext cx="971550" cy="0"/>
          </a:xfrm>
          <a:prstGeom prst="line">
            <a:avLst/>
          </a:prstGeom>
          <a:noFill/>
          <a:ln w="19050">
            <a:solidFill>
              <a:srgbClr val="FF6B35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2CFC6C1-EDBD-47CE-B44F-7D97208C959A}"/>
              </a:ext>
            </a:extLst>
          </p:cNvPr>
          <p:cNvSpPr>
            <a:spLocks noGrp="1"/>
          </p:cNvSpPr>
          <p:nvPr/>
        </p:nvSpPr>
        <p:spPr>
          <a:xfrm>
            <a:off x="6781800" y="4495800"/>
            <a:ext cx="1143000" cy="400050"/>
          </a:xfrm>
          <a:prstGeom prst="rect">
            <a:avLst/>
          </a:prstGeom>
          <a:solidFill>
            <a:srgbClr val="111111"/>
          </a:solidFill>
          <a:ln w="0">
            <a:noFill/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E99DBA3-678B-4C57-B948-FAF7787229D1}"/>
              </a:ext>
            </a:extLst>
          </p:cNvPr>
          <p:cNvSpPr>
            <a:spLocks noGrp="1"/>
          </p:cNvSpPr>
          <p:nvPr/>
        </p:nvSpPr>
        <p:spPr>
          <a:xfrm>
            <a:off x="6896100" y="4581525"/>
            <a:ext cx="914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Match</a:t>
            </a:r>
          </a:p>
        </p:txBody>
      </p:sp>
      <p:sp>
        <p:nvSpPr>
          <p:cNvPr id="15" name="Straight Connector 14">
            <a:extLst>
              <a:ext uri="{FF2B5EF4-FFF2-40B4-BE49-F238E27FC236}">
                <a16:creationId xmlns:a16="http://schemas.microsoft.com/office/drawing/2014/main" id="{E0C1F85E-6ABD-4BB0-A1FE-3A4678664199}"/>
              </a:ext>
            </a:extLst>
          </p:cNvPr>
          <p:cNvSpPr>
            <a:spLocks noGrp="1"/>
          </p:cNvSpPr>
          <p:nvPr/>
        </p:nvSpPr>
        <p:spPr>
          <a:xfrm>
            <a:off x="7924800" y="4695825"/>
            <a:ext cx="695325" cy="0"/>
          </a:xfrm>
          <a:prstGeom prst="line">
            <a:avLst/>
          </a:prstGeom>
          <a:noFill/>
          <a:ln w="19050">
            <a:solidFill>
              <a:srgbClr val="FF6B35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942F733-CE5F-482E-A151-FA9A37A66CA0}"/>
              </a:ext>
            </a:extLst>
          </p:cNvPr>
          <p:cNvSpPr>
            <a:spLocks noGrp="1"/>
          </p:cNvSpPr>
          <p:nvPr/>
        </p:nvSpPr>
        <p:spPr>
          <a:xfrm>
            <a:off x="8620125" y="4495800"/>
            <a:ext cx="1143000" cy="400050"/>
          </a:xfrm>
          <a:prstGeom prst="rect">
            <a:avLst/>
          </a:prstGeom>
          <a:solidFill>
            <a:srgbClr val="111111"/>
          </a:solidFill>
          <a:ln w="0">
            <a:noFill/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D2F2FBD-58E0-4E13-A904-48303C9B46A1}"/>
              </a:ext>
            </a:extLst>
          </p:cNvPr>
          <p:cNvSpPr>
            <a:spLocks noGrp="1"/>
          </p:cNvSpPr>
          <p:nvPr/>
        </p:nvSpPr>
        <p:spPr>
          <a:xfrm>
            <a:off x="8734425" y="4581525"/>
            <a:ext cx="914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Gameplay</a:t>
            </a:r>
          </a:p>
        </p:txBody>
      </p:sp>
      <p:sp>
        <p:nvSpPr>
          <p:cNvPr id="18" name="Straight Connector 17">
            <a:extLst>
              <a:ext uri="{FF2B5EF4-FFF2-40B4-BE49-F238E27FC236}">
                <a16:creationId xmlns:a16="http://schemas.microsoft.com/office/drawing/2014/main" id="{F6798B97-F84C-4AD7-9D96-01F2F378A8F7}"/>
              </a:ext>
            </a:extLst>
          </p:cNvPr>
          <p:cNvSpPr>
            <a:spLocks noGrp="1"/>
          </p:cNvSpPr>
          <p:nvPr/>
        </p:nvSpPr>
        <p:spPr>
          <a:xfrm>
            <a:off x="9763125" y="4695825"/>
            <a:ext cx="619125" cy="0"/>
          </a:xfrm>
          <a:prstGeom prst="line">
            <a:avLst/>
          </a:prstGeom>
          <a:noFill/>
          <a:ln w="19050">
            <a:solidFill>
              <a:srgbClr val="FF6B35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7AC5702-6D3C-475F-93D2-2E69210E53D1}"/>
              </a:ext>
            </a:extLst>
          </p:cNvPr>
          <p:cNvSpPr>
            <a:spLocks noGrp="1"/>
          </p:cNvSpPr>
          <p:nvPr/>
        </p:nvSpPr>
        <p:spPr>
          <a:xfrm>
            <a:off x="10382250" y="4495800"/>
            <a:ext cx="1352550" cy="400050"/>
          </a:xfrm>
          <a:prstGeom prst="rect">
            <a:avLst/>
          </a:prstGeom>
          <a:solidFill>
            <a:srgbClr val="111111"/>
          </a:solidFill>
          <a:ln w="0">
            <a:noFill/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3E205DD-192E-4610-83E7-3C3FF8B8AFC5}"/>
              </a:ext>
            </a:extLst>
          </p:cNvPr>
          <p:cNvSpPr>
            <a:spLocks noGrp="1"/>
          </p:cNvSpPr>
          <p:nvPr/>
        </p:nvSpPr>
        <p:spPr>
          <a:xfrm>
            <a:off x="10496550" y="4581525"/>
            <a:ext cx="11239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end_match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3ABA614-2F36-4453-AFB3-9612EF50557F}"/>
              </a:ext>
            </a:extLst>
          </p:cNvPr>
          <p:cNvSpPr>
            <a:spLocks noGrp="1"/>
          </p:cNvSpPr>
          <p:nvPr/>
        </p:nvSpPr>
        <p:spPr>
          <a:xfrm>
            <a:off x="895350" y="5334000"/>
            <a:ext cx="10287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7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1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Chủ</a:t>
            </a:r>
            <a:r>
              <a:rPr sz="1725" b="1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1725" b="1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phòng</a:t>
            </a:r>
            <a:r>
              <a:rPr sz="1725" b="1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1725" b="1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chỉ</a:t>
            </a:r>
            <a:r>
              <a:rPr sz="1725" b="1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1725" b="1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bắt</a:t>
            </a:r>
            <a:r>
              <a:rPr sz="1725" b="1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1725" b="1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đầu</a:t>
            </a:r>
            <a:r>
              <a:rPr sz="1725" b="1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1725" b="1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khi</a:t>
            </a:r>
            <a:r>
              <a:rPr sz="1725" b="1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1725" b="1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điều</a:t>
            </a:r>
            <a:r>
              <a:rPr sz="1725" b="1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1725" b="1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kiện</a:t>
            </a:r>
            <a:r>
              <a:rPr sz="1725" b="1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1725" b="1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hợp</a:t>
            </a:r>
            <a:r>
              <a:rPr sz="1725" b="1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1725" b="1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lệ</a:t>
            </a:r>
            <a:r>
              <a:rPr sz="1725" b="1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; backend </a:t>
            </a:r>
            <a:r>
              <a:rPr sz="1725" b="1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tạo</a:t>
            </a:r>
            <a:r>
              <a:rPr sz="1725" b="1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1725" b="1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match_id</a:t>
            </a:r>
            <a:r>
              <a:rPr sz="1725" b="1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, Unity </a:t>
            </a:r>
            <a:r>
              <a:rPr sz="1725" b="1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dùng</a:t>
            </a:r>
            <a:r>
              <a:rPr sz="1725" b="1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1725" b="1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match_id</a:t>
            </a:r>
            <a:r>
              <a:rPr sz="1725" b="1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1725" b="1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để</a:t>
            </a:r>
            <a:r>
              <a:rPr sz="1725" b="1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1725" b="1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vào</a:t>
            </a:r>
            <a:r>
              <a:rPr sz="1725" b="1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1725" b="1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đúng</a:t>
            </a:r>
            <a:r>
              <a:rPr sz="1725" b="1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1725" b="1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phiên</a:t>
            </a:r>
            <a:r>
              <a:rPr sz="1725" b="1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sz="1725" b="1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mạng</a:t>
            </a:r>
            <a:r>
              <a:rPr sz="1725" b="1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920288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35E3F25-DC38-4CEE-A1F6-EB171ED3279A}"/>
              </a:ext>
            </a:extLst>
          </p:cNvPr>
          <p:cNvSpPr>
            <a:spLocks noGrp="1"/>
          </p:cNvSpPr>
          <p:nvPr/>
        </p:nvSpPr>
        <p:spPr>
          <a:xfrm>
            <a:off x="400050" y="342900"/>
            <a:ext cx="85725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1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Gameplay chính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54E2195-F3AA-4360-BFE7-949B7AECC618}"/>
              </a:ext>
            </a:extLst>
          </p:cNvPr>
          <p:cNvSpPr>
            <a:spLocks noGrp="1"/>
          </p:cNvSpPr>
          <p:nvPr/>
        </p:nvSpPr>
        <p:spPr>
          <a:xfrm>
            <a:off x="419100" y="1123950"/>
            <a:ext cx="7048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Co-op sinh tồn theo đợt: di chuyển, né tránh, tấn công, sống sót và phối hợp.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2041E35-71EF-4986-96B6-ED2DA40D7FB9}"/>
              </a:ext>
            </a:extLst>
          </p:cNvPr>
          <p:cNvSpPr>
            <a:spLocks noGrp="1"/>
          </p:cNvSpPr>
          <p:nvPr/>
        </p:nvSpPr>
        <p:spPr>
          <a:xfrm>
            <a:off x="11315700" y="6286500"/>
            <a:ext cx="47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3"/>
          <a:srcRect l="8176" r="8176"/>
          <a:stretch>
            <a:fillRect/>
          </a:stretch>
        </p:blipFill>
        <p:spPr>
          <a:xfrm>
            <a:off x="400050" y="1600200"/>
            <a:ext cx="3429000" cy="2152650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4"/>
          <a:srcRect l="10877" r="10877"/>
          <a:stretch>
            <a:fillRect/>
          </a:stretch>
        </p:blipFill>
        <p:spPr>
          <a:xfrm>
            <a:off x="4381500" y="1600200"/>
            <a:ext cx="3429000" cy="2152650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5"/>
          <a:srcRect l="12262" r="12262"/>
          <a:stretch>
            <a:fillRect/>
          </a:stretch>
        </p:blipFill>
        <p:spPr>
          <a:xfrm>
            <a:off x="8362950" y="1600200"/>
            <a:ext cx="3429000" cy="215265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061E0A8E-E006-45EE-8C2E-56FC9BBFC0EE}"/>
              </a:ext>
            </a:extLst>
          </p:cNvPr>
          <p:cNvSpPr>
            <a:spLocks noGrp="1"/>
          </p:cNvSpPr>
          <p:nvPr/>
        </p:nvSpPr>
        <p:spPr>
          <a:xfrm>
            <a:off x="876300" y="4467225"/>
            <a:ext cx="133350" cy="133350"/>
          </a:xfrm>
          <a:prstGeom prst="rect">
            <a:avLst/>
          </a:prstGeom>
          <a:solidFill>
            <a:srgbClr val="111111"/>
          </a:solidFill>
          <a:ln w="0">
            <a:noFill/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5C7AF38-BBF1-496C-B941-2A4FA5A9EA78}"/>
              </a:ext>
            </a:extLst>
          </p:cNvPr>
          <p:cNvSpPr>
            <a:spLocks noGrp="1"/>
          </p:cNvSpPr>
          <p:nvPr/>
        </p:nvSpPr>
        <p:spPr>
          <a:xfrm>
            <a:off x="1162050" y="4400550"/>
            <a:ext cx="9620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Player controller xử lý chạy, hướng xoay, combo attack và dodge/slide.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BEDB3AF-8186-47C5-A662-24D2B0936C10}"/>
              </a:ext>
            </a:extLst>
          </p:cNvPr>
          <p:cNvSpPr>
            <a:spLocks noGrp="1"/>
          </p:cNvSpPr>
          <p:nvPr/>
        </p:nvSpPr>
        <p:spPr>
          <a:xfrm>
            <a:off x="876300" y="5000625"/>
            <a:ext cx="133350" cy="133350"/>
          </a:xfrm>
          <a:prstGeom prst="rect">
            <a:avLst/>
          </a:prstGeom>
          <a:solidFill>
            <a:srgbClr val="111111"/>
          </a:solidFill>
          <a:ln w="0">
            <a:noFill/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CBE7D38-F6FD-4114-8C48-95D083C41F59}"/>
              </a:ext>
            </a:extLst>
          </p:cNvPr>
          <p:cNvSpPr>
            <a:spLocks noGrp="1"/>
          </p:cNvSpPr>
          <p:nvPr/>
        </p:nvSpPr>
        <p:spPr>
          <a:xfrm>
            <a:off x="1162050" y="4933950"/>
            <a:ext cx="9620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Health/HUD cập nhật máu, trạng thái downed/dead và điều kiện kết thúc.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4C647AE-9489-4D1E-A7E8-4E67D2E0BAD1}"/>
              </a:ext>
            </a:extLst>
          </p:cNvPr>
          <p:cNvSpPr>
            <a:spLocks noGrp="1"/>
          </p:cNvSpPr>
          <p:nvPr/>
        </p:nvSpPr>
        <p:spPr>
          <a:xfrm>
            <a:off x="876300" y="5534025"/>
            <a:ext cx="133350" cy="133350"/>
          </a:xfrm>
          <a:prstGeom prst="rect">
            <a:avLst/>
          </a:prstGeom>
          <a:solidFill>
            <a:srgbClr val="111111"/>
          </a:solidFill>
          <a:ln w="0">
            <a:noFill/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35FCEFA-2D0B-43CA-8A12-327EA4A277E8}"/>
              </a:ext>
            </a:extLst>
          </p:cNvPr>
          <p:cNvSpPr>
            <a:spLocks noGrp="1"/>
          </p:cNvSpPr>
          <p:nvPr/>
        </p:nvSpPr>
        <p:spPr>
          <a:xfrm>
            <a:off x="1162050" y="5467350"/>
            <a:ext cx="9620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Vật phẩm hồi máu và coin được đồng bộ để tránh nhặt lặp giữa các client.</a:t>
            </a:r>
          </a:p>
        </p:txBody>
      </p:sp>
    </p:spTree>
    <p:extLst>
      <p:ext uri="{BB962C8B-B14F-4D97-AF65-F5344CB8AC3E}">
        <p14:creationId xmlns:p14="http://schemas.microsoft.com/office/powerpoint/2010/main" val="10957980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6CE22DD-83AF-49AF-A4C4-313E91424CA0}"/>
              </a:ext>
            </a:extLst>
          </p:cNvPr>
          <p:cNvSpPr>
            <a:spLocks noGrp="1"/>
          </p:cNvSpPr>
          <p:nvPr/>
        </p:nvSpPr>
        <p:spPr>
          <a:xfrm>
            <a:off x="400050" y="342900"/>
            <a:ext cx="85725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1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Kẻ địch, wave và phối hợp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C649319-49E2-45E1-A174-12808E574810}"/>
              </a:ext>
            </a:extLst>
          </p:cNvPr>
          <p:cNvSpPr>
            <a:spLocks noGrp="1"/>
          </p:cNvSpPr>
          <p:nvPr/>
        </p:nvSpPr>
        <p:spPr>
          <a:xfrm>
            <a:off x="419100" y="1123950"/>
            <a:ext cx="7048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Thử thách chính đến từ enemy AI, spawn theo khu vực và cơ chế hồi sinh đồng đội.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0557FDF-412F-4A7A-982A-3AC5B3032E5C}"/>
              </a:ext>
            </a:extLst>
          </p:cNvPr>
          <p:cNvSpPr>
            <a:spLocks noGrp="1"/>
          </p:cNvSpPr>
          <p:nvPr/>
        </p:nvSpPr>
        <p:spPr>
          <a:xfrm>
            <a:off x="11315700" y="6286500"/>
            <a:ext cx="47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3"/>
          <a:srcRect l="2435" r="2435"/>
          <a:stretch>
            <a:fillRect/>
          </a:stretch>
        </p:blipFill>
        <p:spPr>
          <a:xfrm>
            <a:off x="495300" y="1581150"/>
            <a:ext cx="3524250" cy="2190750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4"/>
          <a:srcRect l="3880" r="3880"/>
          <a:stretch>
            <a:fillRect/>
          </a:stretch>
        </p:blipFill>
        <p:spPr>
          <a:xfrm>
            <a:off x="4333875" y="1581150"/>
            <a:ext cx="3524250" cy="2190750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5"/>
          <a:srcRect l="1859" r="1859"/>
          <a:stretch>
            <a:fillRect/>
          </a:stretch>
        </p:blipFill>
        <p:spPr>
          <a:xfrm>
            <a:off x="8172450" y="1581150"/>
            <a:ext cx="3524250" cy="219075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B89E1481-A6C0-4805-9849-24E8A1E2D066}"/>
              </a:ext>
            </a:extLst>
          </p:cNvPr>
          <p:cNvSpPr>
            <a:spLocks noGrp="1"/>
          </p:cNvSpPr>
          <p:nvPr/>
        </p:nvSpPr>
        <p:spPr>
          <a:xfrm>
            <a:off x="876300" y="4467225"/>
            <a:ext cx="133350" cy="133350"/>
          </a:xfrm>
          <a:prstGeom prst="rect">
            <a:avLst/>
          </a:prstGeom>
          <a:solidFill>
            <a:srgbClr val="111111"/>
          </a:solidFill>
          <a:ln w="0">
            <a:noFill/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EBB963E-8DAD-49AD-94D1-8278391E67BB}"/>
              </a:ext>
            </a:extLst>
          </p:cNvPr>
          <p:cNvSpPr>
            <a:spLocks noGrp="1"/>
          </p:cNvSpPr>
          <p:nvPr/>
        </p:nvSpPr>
        <p:spPr>
          <a:xfrm>
            <a:off x="1162050" y="4400550"/>
            <a:ext cx="9620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Enemy dùng NavMesh để tìm đường, chọn mục tiêu gần nhất và tấn công khi đủ khoảng cách.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7F98166-CAF8-4BFE-A775-3BF613AB9DAB}"/>
              </a:ext>
            </a:extLst>
          </p:cNvPr>
          <p:cNvSpPr>
            <a:spLocks noGrp="1"/>
          </p:cNvSpPr>
          <p:nvPr/>
        </p:nvSpPr>
        <p:spPr>
          <a:xfrm>
            <a:off x="876300" y="5019675"/>
            <a:ext cx="133350" cy="133350"/>
          </a:xfrm>
          <a:prstGeom prst="rect">
            <a:avLst/>
          </a:prstGeom>
          <a:solidFill>
            <a:srgbClr val="111111"/>
          </a:solidFill>
          <a:ln w="0">
            <a:noFill/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91BEC01-4ED3-4255-994F-3639C1DBF605}"/>
              </a:ext>
            </a:extLst>
          </p:cNvPr>
          <p:cNvSpPr>
            <a:spLocks noGrp="1"/>
          </p:cNvSpPr>
          <p:nvPr/>
        </p:nvSpPr>
        <p:spPr>
          <a:xfrm>
            <a:off x="1162050" y="4953000"/>
            <a:ext cx="9620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Spawner kích hoạt từng khu vực; dọn sạch enemy sẽ mở cổng sang thử thách tiếp theo.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7A5BAD3-8999-4821-B1E0-2D4FB7BF74A1}"/>
              </a:ext>
            </a:extLst>
          </p:cNvPr>
          <p:cNvSpPr>
            <a:spLocks noGrp="1"/>
          </p:cNvSpPr>
          <p:nvPr/>
        </p:nvSpPr>
        <p:spPr>
          <a:xfrm>
            <a:off x="876300" y="5572125"/>
            <a:ext cx="133350" cy="133350"/>
          </a:xfrm>
          <a:prstGeom prst="rect">
            <a:avLst/>
          </a:prstGeom>
          <a:solidFill>
            <a:srgbClr val="111111"/>
          </a:solidFill>
          <a:ln w="0">
            <a:noFill/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7B98DB7-FBB2-49A0-82AA-2C148C8A591E}"/>
              </a:ext>
            </a:extLst>
          </p:cNvPr>
          <p:cNvSpPr>
            <a:spLocks noGrp="1"/>
          </p:cNvSpPr>
          <p:nvPr/>
        </p:nvSpPr>
        <p:spPr>
          <a:xfrm>
            <a:off x="1162050" y="5505450"/>
            <a:ext cx="9620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Revive yêu cầu đứng trong phạm vi và duy trì thao tác; thống kê revive được lưu cuối trận.</a:t>
            </a:r>
          </a:p>
        </p:txBody>
      </p:sp>
    </p:spTree>
    <p:extLst>
      <p:ext uri="{BB962C8B-B14F-4D97-AF65-F5344CB8AC3E}">
        <p14:creationId xmlns:p14="http://schemas.microsoft.com/office/powerpoint/2010/main" val="6415432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D6B7DAC-FA26-4A2A-BFAC-582299F28507}"/>
              </a:ext>
            </a:extLst>
          </p:cNvPr>
          <p:cNvSpPr>
            <a:spLocks noGrp="1"/>
          </p:cNvSpPr>
          <p:nvPr/>
        </p:nvSpPr>
        <p:spPr>
          <a:xfrm>
            <a:off x="400050" y="342900"/>
            <a:ext cx="85725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1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Đồng bộ multiplayer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800E789-A4DE-4721-A609-9AD639FF94B8}"/>
              </a:ext>
            </a:extLst>
          </p:cNvPr>
          <p:cNvSpPr>
            <a:spLocks noGrp="1"/>
          </p:cNvSpPr>
          <p:nvPr/>
        </p:nvSpPr>
        <p:spPr>
          <a:xfrm>
            <a:off x="419100" y="1123950"/>
            <a:ext cx="7048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Photon Fusion xử lý dữ liệu thay đổi liên tục, còn Supabase không ghi từng frame.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10DCE9F-B16D-481C-B1E2-AD0E66771D66}"/>
              </a:ext>
            </a:extLst>
          </p:cNvPr>
          <p:cNvSpPr>
            <a:spLocks noGrp="1"/>
          </p:cNvSpPr>
          <p:nvPr/>
        </p:nvSpPr>
        <p:spPr>
          <a:xfrm>
            <a:off x="11315700" y="6286500"/>
            <a:ext cx="47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3"/>
          <a:srcRect l="1463" r="1463"/>
          <a:stretch>
            <a:fillRect/>
          </a:stretch>
        </p:blipFill>
        <p:spPr>
          <a:xfrm>
            <a:off x="514350" y="1524000"/>
            <a:ext cx="4953000" cy="2857500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4"/>
          <a:srcRect t="24161" b="24161"/>
          <a:stretch>
            <a:fillRect/>
          </a:stretch>
        </p:blipFill>
        <p:spPr>
          <a:xfrm>
            <a:off x="514350" y="4619625"/>
            <a:ext cx="4953000" cy="150495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77DB1F2-82EF-4344-9CBB-5EE183A8383E}"/>
              </a:ext>
            </a:extLst>
          </p:cNvPr>
          <p:cNvSpPr>
            <a:spLocks noGrp="1"/>
          </p:cNvSpPr>
          <p:nvPr/>
        </p:nvSpPr>
        <p:spPr>
          <a:xfrm>
            <a:off x="6143625" y="1724025"/>
            <a:ext cx="133350" cy="133350"/>
          </a:xfrm>
          <a:prstGeom prst="rect">
            <a:avLst/>
          </a:prstGeom>
          <a:solidFill>
            <a:srgbClr val="111111"/>
          </a:solidFill>
          <a:ln w="0">
            <a:noFill/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3220F93-8018-48CF-AF7A-84E66DFF36F9}"/>
              </a:ext>
            </a:extLst>
          </p:cNvPr>
          <p:cNvSpPr>
            <a:spLocks noGrp="1"/>
          </p:cNvSpPr>
          <p:nvPr/>
        </p:nvSpPr>
        <p:spPr>
          <a:xfrm>
            <a:off x="6429375" y="1657350"/>
            <a:ext cx="4905375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Mỗi trận dùng match_id làm SessionName, tách biệt dữ liệu giữa các phòng.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45F4162-31AA-4F56-9160-A2F1B90BA9CE}"/>
              </a:ext>
            </a:extLst>
          </p:cNvPr>
          <p:cNvSpPr>
            <a:spLocks noGrp="1"/>
          </p:cNvSpPr>
          <p:nvPr/>
        </p:nvSpPr>
        <p:spPr>
          <a:xfrm>
            <a:off x="6143625" y="2600325"/>
            <a:ext cx="133350" cy="133350"/>
          </a:xfrm>
          <a:prstGeom prst="rect">
            <a:avLst/>
          </a:prstGeom>
          <a:solidFill>
            <a:srgbClr val="111111"/>
          </a:solidFill>
          <a:ln w="0">
            <a:noFill/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F035A68-71E0-4F23-A54C-3658C318682D}"/>
              </a:ext>
            </a:extLst>
          </p:cNvPr>
          <p:cNvSpPr>
            <a:spLocks noGrp="1"/>
          </p:cNvSpPr>
          <p:nvPr/>
        </p:nvSpPr>
        <p:spPr>
          <a:xfrm>
            <a:off x="6429375" y="2533650"/>
            <a:ext cx="4905375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NetworkObject/NetworkBehaviour giữ vị trí, máu, animation, tên hiển thị và trạng thái sống/chết.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4123C15-74B2-4B22-AA59-5CD445B69921}"/>
              </a:ext>
            </a:extLst>
          </p:cNvPr>
          <p:cNvSpPr>
            <a:spLocks noGrp="1"/>
          </p:cNvSpPr>
          <p:nvPr/>
        </p:nvSpPr>
        <p:spPr>
          <a:xfrm>
            <a:off x="6143625" y="3476625"/>
            <a:ext cx="133350" cy="133350"/>
          </a:xfrm>
          <a:prstGeom prst="rect">
            <a:avLst/>
          </a:prstGeom>
          <a:solidFill>
            <a:srgbClr val="111111"/>
          </a:solidFill>
          <a:ln w="0">
            <a:noFill/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3621C7B-7E64-43AE-9B5F-3DBC2009F7C7}"/>
              </a:ext>
            </a:extLst>
          </p:cNvPr>
          <p:cNvSpPr>
            <a:spLocks noGrp="1"/>
          </p:cNvSpPr>
          <p:nvPr/>
        </p:nvSpPr>
        <p:spPr>
          <a:xfrm>
            <a:off x="6429375" y="3409950"/>
            <a:ext cx="4905375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RPC dùng cho sự kiện tức thời: tấn công, nhận sát thương, revive, nhặt vật phẩm, mở cổng.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6BFA07A-99CB-46C8-B1E4-D66A78644E7E}"/>
              </a:ext>
            </a:extLst>
          </p:cNvPr>
          <p:cNvSpPr>
            <a:spLocks noGrp="1"/>
          </p:cNvSpPr>
          <p:nvPr/>
        </p:nvSpPr>
        <p:spPr>
          <a:xfrm>
            <a:off x="6143625" y="4352925"/>
            <a:ext cx="133350" cy="133350"/>
          </a:xfrm>
          <a:prstGeom prst="rect">
            <a:avLst/>
          </a:prstGeom>
          <a:solidFill>
            <a:srgbClr val="111111"/>
          </a:solidFill>
          <a:ln w="0">
            <a:noFill/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1C793DD-ABF9-496F-A831-4A05BFCCD3BE}"/>
              </a:ext>
            </a:extLst>
          </p:cNvPr>
          <p:cNvSpPr>
            <a:spLocks noGrp="1"/>
          </p:cNvSpPr>
          <p:nvPr/>
        </p:nvSpPr>
        <p:spPr>
          <a:xfrm>
            <a:off x="6429375" y="4286250"/>
            <a:ext cx="4905375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State Authority quyết định trạng thái enemy để tránh nhiều máy cùng điều khiển một đối tượng.</a:t>
            </a:r>
          </a:p>
        </p:txBody>
      </p:sp>
    </p:spTree>
    <p:extLst>
      <p:ext uri="{BB962C8B-B14F-4D97-AF65-F5344CB8AC3E}">
        <p14:creationId xmlns:p14="http://schemas.microsoft.com/office/powerpoint/2010/main" val="6502746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552AE67-4C31-4793-BE0A-845F39047F5A}"/>
              </a:ext>
            </a:extLst>
          </p:cNvPr>
          <p:cNvSpPr>
            <a:spLocks noGrp="1"/>
          </p:cNvSpPr>
          <p:nvPr/>
        </p:nvSpPr>
        <p:spPr>
          <a:xfrm>
            <a:off x="400050" y="342900"/>
            <a:ext cx="85725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1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Bảo mật và kiểm soát dữ liệu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C5F093F-FE5A-41F0-BD14-5F25722FB467}"/>
              </a:ext>
            </a:extLst>
          </p:cNvPr>
          <p:cNvSpPr>
            <a:spLocks noGrp="1"/>
          </p:cNvSpPr>
          <p:nvPr/>
        </p:nvSpPr>
        <p:spPr>
          <a:xfrm>
            <a:off x="419100" y="1123950"/>
            <a:ext cx="7048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Mục tiêu là chống ghi sai dữ liệu nghiệp vụ ở mức phù hợp với demo co-op.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24F917C-85B8-4DA5-A509-AD0DB304FC62}"/>
              </a:ext>
            </a:extLst>
          </p:cNvPr>
          <p:cNvSpPr>
            <a:spLocks noGrp="1"/>
          </p:cNvSpPr>
          <p:nvPr/>
        </p:nvSpPr>
        <p:spPr>
          <a:xfrm>
            <a:off x="11315700" y="6286500"/>
            <a:ext cx="47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3"/>
          <a:srcRect l="66" r="66"/>
          <a:stretch>
            <a:fillRect/>
          </a:stretch>
        </p:blipFill>
        <p:spPr>
          <a:xfrm>
            <a:off x="6667500" y="1352550"/>
            <a:ext cx="4810125" cy="2343150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4"/>
          <a:srcRect t="13537" b="13537"/>
          <a:stretch>
            <a:fillRect/>
          </a:stretch>
        </p:blipFill>
        <p:spPr>
          <a:xfrm>
            <a:off x="6667500" y="4000500"/>
            <a:ext cx="4810125" cy="219075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14CF5AD7-00DB-456E-A4FE-A4540D2F89E0}"/>
              </a:ext>
            </a:extLst>
          </p:cNvPr>
          <p:cNvSpPr>
            <a:spLocks noGrp="1"/>
          </p:cNvSpPr>
          <p:nvPr/>
        </p:nvSpPr>
        <p:spPr>
          <a:xfrm>
            <a:off x="685800" y="1685925"/>
            <a:ext cx="133350" cy="133350"/>
          </a:xfrm>
          <a:prstGeom prst="rect">
            <a:avLst/>
          </a:prstGeom>
          <a:solidFill>
            <a:srgbClr val="111111"/>
          </a:solidFill>
          <a:ln w="0">
            <a:noFill/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3601D7F-7372-45BF-95AA-EC3932FDD9CA}"/>
              </a:ext>
            </a:extLst>
          </p:cNvPr>
          <p:cNvSpPr>
            <a:spLocks noGrp="1"/>
          </p:cNvSpPr>
          <p:nvPr/>
        </p:nvSpPr>
        <p:spPr>
          <a:xfrm>
            <a:off x="971550" y="1619250"/>
            <a:ext cx="5143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JWT xác định người gọi khi Unity gọi REST API hoặc Edge Functions.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1CADC41-C2ED-4BC5-A04D-C0249984B167}"/>
              </a:ext>
            </a:extLst>
          </p:cNvPr>
          <p:cNvSpPr>
            <a:spLocks noGrp="1"/>
          </p:cNvSpPr>
          <p:nvPr/>
        </p:nvSpPr>
        <p:spPr>
          <a:xfrm>
            <a:off x="685800" y="2486025"/>
            <a:ext cx="133350" cy="133350"/>
          </a:xfrm>
          <a:prstGeom prst="rect">
            <a:avLst/>
          </a:prstGeom>
          <a:solidFill>
            <a:srgbClr val="111111"/>
          </a:solidFill>
          <a:ln w="0">
            <a:noFill/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2A61F86-0182-4D96-B04C-C3FAE3ABBB14}"/>
              </a:ext>
            </a:extLst>
          </p:cNvPr>
          <p:cNvSpPr>
            <a:spLocks noGrp="1"/>
          </p:cNvSpPr>
          <p:nvPr/>
        </p:nvSpPr>
        <p:spPr>
          <a:xfrm>
            <a:off x="971550" y="2419350"/>
            <a:ext cx="5143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RLS giới hạn quyền đọc/ghi theo user và dữ liệu liên quan.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4A69B44-7C09-4D23-A5CD-AF2F60A6D08F}"/>
              </a:ext>
            </a:extLst>
          </p:cNvPr>
          <p:cNvSpPr>
            <a:spLocks noGrp="1"/>
          </p:cNvSpPr>
          <p:nvPr/>
        </p:nvSpPr>
        <p:spPr>
          <a:xfrm>
            <a:off x="685800" y="3286125"/>
            <a:ext cx="133350" cy="133350"/>
          </a:xfrm>
          <a:prstGeom prst="rect">
            <a:avLst/>
          </a:prstGeom>
          <a:solidFill>
            <a:srgbClr val="111111"/>
          </a:solidFill>
          <a:ln w="0">
            <a:noFill/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C084FA5-5BD4-4290-B3F7-F2E2BFB116DE}"/>
              </a:ext>
            </a:extLst>
          </p:cNvPr>
          <p:cNvSpPr>
            <a:spLocks noGrp="1"/>
          </p:cNvSpPr>
          <p:nvPr/>
        </p:nvSpPr>
        <p:spPr>
          <a:xfrm>
            <a:off x="971550" y="3219450"/>
            <a:ext cx="51435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Edge Functions kiểm tra chủ phòng, trạng thái phòng, match_id và chống ghi lặp end_match.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F25890B-4150-48B8-BC7D-FE6DBA9FEFA1}"/>
              </a:ext>
            </a:extLst>
          </p:cNvPr>
          <p:cNvSpPr>
            <a:spLocks noGrp="1"/>
          </p:cNvSpPr>
          <p:nvPr/>
        </p:nvSpPr>
        <p:spPr>
          <a:xfrm>
            <a:off x="685800" y="4086225"/>
            <a:ext cx="133350" cy="133350"/>
          </a:xfrm>
          <a:prstGeom prst="rect">
            <a:avLst/>
          </a:prstGeom>
          <a:solidFill>
            <a:srgbClr val="FF6B35"/>
          </a:solidFill>
          <a:ln w="0">
            <a:noFill/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A965863-A2D6-4471-97C6-8BF2208446DF}"/>
              </a:ext>
            </a:extLst>
          </p:cNvPr>
          <p:cNvSpPr>
            <a:spLocks noGrp="1"/>
          </p:cNvSpPr>
          <p:nvPr/>
        </p:nvSpPr>
        <p:spPr>
          <a:xfrm>
            <a:off x="971550" y="4019550"/>
            <a:ext cx="51435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Giới hạn hiện tại: chưa có dedicated server tái mô phỏng toàn bộ sát thương/kill theo frame.</a:t>
            </a:r>
          </a:p>
        </p:txBody>
      </p:sp>
    </p:spTree>
    <p:extLst>
      <p:ext uri="{BB962C8B-B14F-4D97-AF65-F5344CB8AC3E}">
        <p14:creationId xmlns:p14="http://schemas.microsoft.com/office/powerpoint/2010/main" val="11232436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Rectangle 57">
            <a:extLst>
              <a:ext uri="{FF2B5EF4-FFF2-40B4-BE49-F238E27FC236}">
                <a16:creationId xmlns:a16="http://schemas.microsoft.com/office/drawing/2014/main" id="{14CDB25F-26B1-4900-BB23-7C241BC8964C}"/>
              </a:ext>
            </a:extLst>
          </p:cNvPr>
          <p:cNvSpPr>
            <a:spLocks noGrp="1"/>
          </p:cNvSpPr>
          <p:nvPr/>
        </p:nvSpPr>
        <p:spPr>
          <a:xfrm>
            <a:off x="400050" y="342900"/>
            <a:ext cx="85725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1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Kiểm thử và kết quả đo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6406952-AF34-4B68-811B-FEE15C85B070}"/>
              </a:ext>
            </a:extLst>
          </p:cNvPr>
          <p:cNvSpPr>
            <a:spLocks noGrp="1"/>
          </p:cNvSpPr>
          <p:nvPr/>
        </p:nvSpPr>
        <p:spPr>
          <a:xfrm>
            <a:off x="419100" y="1123950"/>
            <a:ext cx="7048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Mỗi kịch bản gameplay chạy khoảng 180 giây, lặp 3 lần và lấy trung bình trên client quan sát chính.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A2B4BD2-EE7C-4243-9551-43334150AA32}"/>
              </a:ext>
            </a:extLst>
          </p:cNvPr>
          <p:cNvSpPr>
            <a:spLocks noGrp="1"/>
          </p:cNvSpPr>
          <p:nvPr/>
        </p:nvSpPr>
        <p:spPr>
          <a:xfrm>
            <a:off x="11315700" y="6286500"/>
            <a:ext cx="47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5644C9A-791E-424F-AA11-B08D222865FB}"/>
              </a:ext>
            </a:extLst>
          </p:cNvPr>
          <p:cNvSpPr>
            <a:spLocks noGrp="1"/>
          </p:cNvSpPr>
          <p:nvPr/>
        </p:nvSpPr>
        <p:spPr>
          <a:xfrm>
            <a:off x="533400" y="1657350"/>
            <a:ext cx="3333750" cy="514350"/>
          </a:xfrm>
          <a:prstGeom prst="rect">
            <a:avLst/>
          </a:prstGeom>
          <a:solidFill>
            <a:srgbClr val="111111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06D3951-160D-4CE8-90AB-A938AEC138B2}"/>
              </a:ext>
            </a:extLst>
          </p:cNvPr>
          <p:cNvSpPr>
            <a:spLocks noGrp="1"/>
          </p:cNvSpPr>
          <p:nvPr/>
        </p:nvSpPr>
        <p:spPr>
          <a:xfrm>
            <a:off x="666750" y="1800225"/>
            <a:ext cx="3067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Kịch bản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CEC1CB9-B854-427B-A503-80C016CCC3A2}"/>
              </a:ext>
            </a:extLst>
          </p:cNvPr>
          <p:cNvSpPr>
            <a:spLocks noGrp="1"/>
          </p:cNvSpPr>
          <p:nvPr/>
        </p:nvSpPr>
        <p:spPr>
          <a:xfrm>
            <a:off x="3867150" y="1657350"/>
            <a:ext cx="1047750" cy="514350"/>
          </a:xfrm>
          <a:prstGeom prst="rect">
            <a:avLst/>
          </a:prstGeom>
          <a:solidFill>
            <a:srgbClr val="111111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5822F7E-E404-4C25-B244-B40C43BDEB1F}"/>
              </a:ext>
            </a:extLst>
          </p:cNvPr>
          <p:cNvSpPr>
            <a:spLocks noGrp="1"/>
          </p:cNvSpPr>
          <p:nvPr/>
        </p:nvSpPr>
        <p:spPr>
          <a:xfrm>
            <a:off x="4000500" y="1800225"/>
            <a:ext cx="781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Client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4901ABC-FCF7-4CC3-A1BE-C72473915CEE}"/>
              </a:ext>
            </a:extLst>
          </p:cNvPr>
          <p:cNvSpPr>
            <a:spLocks noGrp="1"/>
          </p:cNvSpPr>
          <p:nvPr/>
        </p:nvSpPr>
        <p:spPr>
          <a:xfrm>
            <a:off x="4914900" y="1657350"/>
            <a:ext cx="1428750" cy="514350"/>
          </a:xfrm>
          <a:prstGeom prst="rect">
            <a:avLst/>
          </a:prstGeom>
          <a:solidFill>
            <a:srgbClr val="111111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172FA2B-7700-45DE-A068-E13ADF60B4FB}"/>
              </a:ext>
            </a:extLst>
          </p:cNvPr>
          <p:cNvSpPr>
            <a:spLocks noGrp="1"/>
          </p:cNvSpPr>
          <p:nvPr/>
        </p:nvSpPr>
        <p:spPr>
          <a:xfrm>
            <a:off x="5048250" y="1800225"/>
            <a:ext cx="1162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FPS TB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4F85BC0-C4B8-4E7E-95ED-C6DBA0BBCB3A}"/>
              </a:ext>
            </a:extLst>
          </p:cNvPr>
          <p:cNvSpPr>
            <a:spLocks noGrp="1"/>
          </p:cNvSpPr>
          <p:nvPr/>
        </p:nvSpPr>
        <p:spPr>
          <a:xfrm>
            <a:off x="6343650" y="1657350"/>
            <a:ext cx="1428750" cy="514350"/>
          </a:xfrm>
          <a:prstGeom prst="rect">
            <a:avLst/>
          </a:prstGeom>
          <a:solidFill>
            <a:srgbClr val="111111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3F87CDC-388B-4276-993A-FE0E254530FC}"/>
              </a:ext>
            </a:extLst>
          </p:cNvPr>
          <p:cNvSpPr>
            <a:spLocks noGrp="1"/>
          </p:cNvSpPr>
          <p:nvPr/>
        </p:nvSpPr>
        <p:spPr>
          <a:xfrm>
            <a:off x="6477000" y="1800225"/>
            <a:ext cx="1162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RTT/Ping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824FF72-75BF-4656-86A2-778CA6BA6990}"/>
              </a:ext>
            </a:extLst>
          </p:cNvPr>
          <p:cNvSpPr>
            <a:spLocks noGrp="1"/>
          </p:cNvSpPr>
          <p:nvPr/>
        </p:nvSpPr>
        <p:spPr>
          <a:xfrm>
            <a:off x="7772400" y="1657350"/>
            <a:ext cx="3286125" cy="514350"/>
          </a:xfrm>
          <a:prstGeom prst="rect">
            <a:avLst/>
          </a:prstGeom>
          <a:solidFill>
            <a:srgbClr val="111111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DB1B58F-592F-4F5D-B7DA-A5ADF64EC89E}"/>
              </a:ext>
            </a:extLst>
          </p:cNvPr>
          <p:cNvSpPr>
            <a:spLocks noGrp="1"/>
          </p:cNvSpPr>
          <p:nvPr/>
        </p:nvSpPr>
        <p:spPr>
          <a:xfrm>
            <a:off x="7905750" y="1800225"/>
            <a:ext cx="30194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Ghi chú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382B206-B10B-4AC5-A987-55003D68EEFC}"/>
              </a:ext>
            </a:extLst>
          </p:cNvPr>
          <p:cNvSpPr>
            <a:spLocks noGrp="1"/>
          </p:cNvSpPr>
          <p:nvPr/>
        </p:nvSpPr>
        <p:spPr>
          <a:xfrm>
            <a:off x="533400" y="2171700"/>
            <a:ext cx="3333750" cy="590550"/>
          </a:xfrm>
          <a:prstGeom prst="rect">
            <a:avLst/>
          </a:prstGeom>
          <a:solidFill>
            <a:srgbClr val="F7F7F7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8BB9B51-E78E-42C2-BAE9-F20CF82D1E5C}"/>
              </a:ext>
            </a:extLst>
          </p:cNvPr>
          <p:cNvSpPr>
            <a:spLocks noGrp="1"/>
          </p:cNvSpPr>
          <p:nvPr/>
        </p:nvSpPr>
        <p:spPr>
          <a:xfrm>
            <a:off x="666750" y="2343150"/>
            <a:ext cx="3067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Một phòng cơ bản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CB5E7CD-294E-41B9-A7A7-1528059C6DC3}"/>
              </a:ext>
            </a:extLst>
          </p:cNvPr>
          <p:cNvSpPr>
            <a:spLocks noGrp="1"/>
          </p:cNvSpPr>
          <p:nvPr/>
        </p:nvSpPr>
        <p:spPr>
          <a:xfrm>
            <a:off x="3867150" y="2171700"/>
            <a:ext cx="1047750" cy="590550"/>
          </a:xfrm>
          <a:prstGeom prst="rect">
            <a:avLst/>
          </a:prstGeom>
          <a:solidFill>
            <a:srgbClr val="F7F7F7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48C1AA2-4734-4F34-B75D-03DB021BB4EA}"/>
              </a:ext>
            </a:extLst>
          </p:cNvPr>
          <p:cNvSpPr>
            <a:spLocks noGrp="1"/>
          </p:cNvSpPr>
          <p:nvPr/>
        </p:nvSpPr>
        <p:spPr>
          <a:xfrm>
            <a:off x="4000500" y="2343150"/>
            <a:ext cx="781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671EDE9-0DBF-43BE-8177-A5359AEBAD55}"/>
              </a:ext>
            </a:extLst>
          </p:cNvPr>
          <p:cNvSpPr>
            <a:spLocks noGrp="1"/>
          </p:cNvSpPr>
          <p:nvPr/>
        </p:nvSpPr>
        <p:spPr>
          <a:xfrm>
            <a:off x="4914900" y="2171700"/>
            <a:ext cx="1428750" cy="590550"/>
          </a:xfrm>
          <a:prstGeom prst="rect">
            <a:avLst/>
          </a:prstGeom>
          <a:solidFill>
            <a:srgbClr val="F7F7F7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FC6338B-3A45-4FD1-91F1-FB5280448C48}"/>
              </a:ext>
            </a:extLst>
          </p:cNvPr>
          <p:cNvSpPr>
            <a:spLocks noGrp="1"/>
          </p:cNvSpPr>
          <p:nvPr/>
        </p:nvSpPr>
        <p:spPr>
          <a:xfrm>
            <a:off x="5048250" y="2343150"/>
            <a:ext cx="1162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C6421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C64216"/>
                </a:solidFill>
                <a:latin typeface="Arial"/>
                <a:ea typeface="Arial"/>
                <a:cs typeface="Arial"/>
              </a:rPr>
              <a:t>43 FPS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FB6D944-6D6E-4BCB-9A26-C63557D17697}"/>
              </a:ext>
            </a:extLst>
          </p:cNvPr>
          <p:cNvSpPr>
            <a:spLocks noGrp="1"/>
          </p:cNvSpPr>
          <p:nvPr/>
        </p:nvSpPr>
        <p:spPr>
          <a:xfrm>
            <a:off x="6343650" y="2171700"/>
            <a:ext cx="1428750" cy="590550"/>
          </a:xfrm>
          <a:prstGeom prst="rect">
            <a:avLst/>
          </a:prstGeom>
          <a:solidFill>
            <a:srgbClr val="F7F7F7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8415E7D-3DD2-49AD-8F9A-8FB2C0A78A23}"/>
              </a:ext>
            </a:extLst>
          </p:cNvPr>
          <p:cNvSpPr>
            <a:spLocks noGrp="1"/>
          </p:cNvSpPr>
          <p:nvPr/>
        </p:nvSpPr>
        <p:spPr>
          <a:xfrm>
            <a:off x="6477000" y="2343150"/>
            <a:ext cx="1162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C6421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C64216"/>
                </a:solidFill>
                <a:latin typeface="Arial"/>
                <a:ea typeface="Arial"/>
                <a:cs typeface="Arial"/>
              </a:rPr>
              <a:t>71 ms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94338DE-1EB9-4D35-9AFF-89151B18B30A}"/>
              </a:ext>
            </a:extLst>
          </p:cNvPr>
          <p:cNvSpPr>
            <a:spLocks noGrp="1"/>
          </p:cNvSpPr>
          <p:nvPr/>
        </p:nvSpPr>
        <p:spPr>
          <a:xfrm>
            <a:off x="7772400" y="2171700"/>
            <a:ext cx="3286125" cy="590550"/>
          </a:xfrm>
          <a:prstGeom prst="rect">
            <a:avLst/>
          </a:prstGeom>
          <a:solidFill>
            <a:srgbClr val="F7F7F7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4BD183D-A42C-4808-A427-840A19BBF5F2}"/>
              </a:ext>
            </a:extLst>
          </p:cNvPr>
          <p:cNvSpPr>
            <a:spLocks noGrp="1"/>
          </p:cNvSpPr>
          <p:nvPr/>
        </p:nvSpPr>
        <p:spPr>
          <a:xfrm>
            <a:off x="7905750" y="2343150"/>
            <a:ext cx="30194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Ổn định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61342F2-E174-472E-A5F1-DFD3C414B5B6}"/>
              </a:ext>
            </a:extLst>
          </p:cNvPr>
          <p:cNvSpPr>
            <a:spLocks noGrp="1"/>
          </p:cNvSpPr>
          <p:nvPr/>
        </p:nvSpPr>
        <p:spPr>
          <a:xfrm>
            <a:off x="533400" y="2762250"/>
            <a:ext cx="333375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0B46225-72B0-460D-9DCA-30D4EE988367}"/>
              </a:ext>
            </a:extLst>
          </p:cNvPr>
          <p:cNvSpPr>
            <a:spLocks noGrp="1"/>
          </p:cNvSpPr>
          <p:nvPr/>
        </p:nvSpPr>
        <p:spPr>
          <a:xfrm>
            <a:off x="666750" y="2933700"/>
            <a:ext cx="3067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Phòng chơi đầy đủ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47E0219-092C-48E5-8E94-4439CF1ECDA6}"/>
              </a:ext>
            </a:extLst>
          </p:cNvPr>
          <p:cNvSpPr>
            <a:spLocks noGrp="1"/>
          </p:cNvSpPr>
          <p:nvPr/>
        </p:nvSpPr>
        <p:spPr>
          <a:xfrm>
            <a:off x="3867150" y="2762250"/>
            <a:ext cx="104775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BC3BACE-AA65-44C1-AC75-5009FD82178E}"/>
              </a:ext>
            </a:extLst>
          </p:cNvPr>
          <p:cNvSpPr>
            <a:spLocks noGrp="1"/>
          </p:cNvSpPr>
          <p:nvPr/>
        </p:nvSpPr>
        <p:spPr>
          <a:xfrm>
            <a:off x="4000500" y="2933700"/>
            <a:ext cx="781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1594F91-DF82-460F-918E-73278940C770}"/>
              </a:ext>
            </a:extLst>
          </p:cNvPr>
          <p:cNvSpPr>
            <a:spLocks noGrp="1"/>
          </p:cNvSpPr>
          <p:nvPr/>
        </p:nvSpPr>
        <p:spPr>
          <a:xfrm>
            <a:off x="4914900" y="2762250"/>
            <a:ext cx="142875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A0584D3-D655-4121-8646-63E668CFC7D3}"/>
              </a:ext>
            </a:extLst>
          </p:cNvPr>
          <p:cNvSpPr>
            <a:spLocks noGrp="1"/>
          </p:cNvSpPr>
          <p:nvPr/>
        </p:nvSpPr>
        <p:spPr>
          <a:xfrm>
            <a:off x="5048250" y="2933700"/>
            <a:ext cx="1162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C6421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C64216"/>
                </a:solidFill>
                <a:latin typeface="Arial"/>
                <a:ea typeface="Arial"/>
                <a:cs typeface="Arial"/>
              </a:rPr>
              <a:t>40 FPS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B03529F-C361-4C7D-8ACA-47E5460015E1}"/>
              </a:ext>
            </a:extLst>
          </p:cNvPr>
          <p:cNvSpPr>
            <a:spLocks noGrp="1"/>
          </p:cNvSpPr>
          <p:nvPr/>
        </p:nvSpPr>
        <p:spPr>
          <a:xfrm>
            <a:off x="6343650" y="2762250"/>
            <a:ext cx="142875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9E8B082-941C-4D1A-905D-59BEA95204E4}"/>
              </a:ext>
            </a:extLst>
          </p:cNvPr>
          <p:cNvSpPr>
            <a:spLocks noGrp="1"/>
          </p:cNvSpPr>
          <p:nvPr/>
        </p:nvSpPr>
        <p:spPr>
          <a:xfrm>
            <a:off x="6477000" y="2933700"/>
            <a:ext cx="1162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C6421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C64216"/>
                </a:solidFill>
                <a:latin typeface="Arial"/>
                <a:ea typeface="Arial"/>
                <a:cs typeface="Arial"/>
              </a:rPr>
              <a:t>87 ms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5A88487-D146-4BE3-9B4C-C3F840EFEA15}"/>
              </a:ext>
            </a:extLst>
          </p:cNvPr>
          <p:cNvSpPr>
            <a:spLocks noGrp="1"/>
          </p:cNvSpPr>
          <p:nvPr/>
        </p:nvSpPr>
        <p:spPr>
          <a:xfrm>
            <a:off x="7772400" y="2762250"/>
            <a:ext cx="3286125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8FF32DE-B562-46E5-B39A-CB925B2E449A}"/>
              </a:ext>
            </a:extLst>
          </p:cNvPr>
          <p:cNvSpPr>
            <a:spLocks noGrp="1"/>
          </p:cNvSpPr>
          <p:nvPr/>
        </p:nvSpPr>
        <p:spPr>
          <a:xfrm>
            <a:off x="7905750" y="2933700"/>
            <a:ext cx="30194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Nhiều người chơi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BB9FF7DB-496E-4859-BD3C-2D0AAE88FFB9}"/>
              </a:ext>
            </a:extLst>
          </p:cNvPr>
          <p:cNvSpPr>
            <a:spLocks noGrp="1"/>
          </p:cNvSpPr>
          <p:nvPr/>
        </p:nvSpPr>
        <p:spPr>
          <a:xfrm>
            <a:off x="533400" y="3352800"/>
            <a:ext cx="3333750" cy="590550"/>
          </a:xfrm>
          <a:prstGeom prst="rect">
            <a:avLst/>
          </a:prstGeom>
          <a:solidFill>
            <a:srgbClr val="F7F7F7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1DF7A90B-DBEB-4CB9-AE89-4698F9359F2D}"/>
              </a:ext>
            </a:extLst>
          </p:cNvPr>
          <p:cNvSpPr>
            <a:spLocks noGrp="1"/>
          </p:cNvSpPr>
          <p:nvPr/>
        </p:nvSpPr>
        <p:spPr>
          <a:xfrm>
            <a:off x="666750" y="3524250"/>
            <a:ext cx="3067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Chiến đấu nhiều kẻ địch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8092C415-BA70-45FF-86D1-FF81D5F8BA07}"/>
              </a:ext>
            </a:extLst>
          </p:cNvPr>
          <p:cNvSpPr>
            <a:spLocks noGrp="1"/>
          </p:cNvSpPr>
          <p:nvPr/>
        </p:nvSpPr>
        <p:spPr>
          <a:xfrm>
            <a:off x="3867150" y="3352800"/>
            <a:ext cx="1047750" cy="590550"/>
          </a:xfrm>
          <a:prstGeom prst="rect">
            <a:avLst/>
          </a:prstGeom>
          <a:solidFill>
            <a:srgbClr val="F7F7F7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47361687-4223-4975-A0D5-EDD0AC991B27}"/>
              </a:ext>
            </a:extLst>
          </p:cNvPr>
          <p:cNvSpPr>
            <a:spLocks noGrp="1"/>
          </p:cNvSpPr>
          <p:nvPr/>
        </p:nvSpPr>
        <p:spPr>
          <a:xfrm>
            <a:off x="4000500" y="3524250"/>
            <a:ext cx="781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E0FC733E-247E-41A3-998F-80F3BB89F230}"/>
              </a:ext>
            </a:extLst>
          </p:cNvPr>
          <p:cNvSpPr>
            <a:spLocks noGrp="1"/>
          </p:cNvSpPr>
          <p:nvPr/>
        </p:nvSpPr>
        <p:spPr>
          <a:xfrm>
            <a:off x="4914900" y="3352800"/>
            <a:ext cx="1428750" cy="590550"/>
          </a:xfrm>
          <a:prstGeom prst="rect">
            <a:avLst/>
          </a:prstGeom>
          <a:solidFill>
            <a:srgbClr val="F7F7F7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4A5690DC-8638-499C-BEE8-EC9A506C03A0}"/>
              </a:ext>
            </a:extLst>
          </p:cNvPr>
          <p:cNvSpPr>
            <a:spLocks noGrp="1"/>
          </p:cNvSpPr>
          <p:nvPr/>
        </p:nvSpPr>
        <p:spPr>
          <a:xfrm>
            <a:off x="5048250" y="3524250"/>
            <a:ext cx="1162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C6421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C64216"/>
                </a:solidFill>
                <a:latin typeface="Arial"/>
                <a:ea typeface="Arial"/>
                <a:cs typeface="Arial"/>
              </a:rPr>
              <a:t>40 FPS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E1FFF7EF-9F27-445D-B2AF-2EB0C22D1443}"/>
              </a:ext>
            </a:extLst>
          </p:cNvPr>
          <p:cNvSpPr>
            <a:spLocks noGrp="1"/>
          </p:cNvSpPr>
          <p:nvPr/>
        </p:nvSpPr>
        <p:spPr>
          <a:xfrm>
            <a:off x="6343650" y="3352800"/>
            <a:ext cx="1428750" cy="590550"/>
          </a:xfrm>
          <a:prstGeom prst="rect">
            <a:avLst/>
          </a:prstGeom>
          <a:solidFill>
            <a:srgbClr val="F7F7F7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22B09C84-7E10-49AB-869A-C328DB7DF9D7}"/>
              </a:ext>
            </a:extLst>
          </p:cNvPr>
          <p:cNvSpPr>
            <a:spLocks noGrp="1"/>
          </p:cNvSpPr>
          <p:nvPr/>
        </p:nvSpPr>
        <p:spPr>
          <a:xfrm>
            <a:off x="6477000" y="3524250"/>
            <a:ext cx="1162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C6421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C64216"/>
                </a:solidFill>
                <a:latin typeface="Arial"/>
                <a:ea typeface="Arial"/>
                <a:cs typeface="Arial"/>
              </a:rPr>
              <a:t>100 ms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AD7D5DEB-8E40-47E9-BB69-6900287556D9}"/>
              </a:ext>
            </a:extLst>
          </p:cNvPr>
          <p:cNvSpPr>
            <a:spLocks noGrp="1"/>
          </p:cNvSpPr>
          <p:nvPr/>
        </p:nvSpPr>
        <p:spPr>
          <a:xfrm>
            <a:off x="7772400" y="3352800"/>
            <a:ext cx="3286125" cy="590550"/>
          </a:xfrm>
          <a:prstGeom prst="rect">
            <a:avLst/>
          </a:prstGeom>
          <a:solidFill>
            <a:srgbClr val="F7F7F7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A4E73F09-7C0B-4B42-8029-19169D6F318B}"/>
              </a:ext>
            </a:extLst>
          </p:cNvPr>
          <p:cNvSpPr>
            <a:spLocks noGrp="1"/>
          </p:cNvSpPr>
          <p:nvPr/>
        </p:nvSpPr>
        <p:spPr>
          <a:xfrm>
            <a:off x="7905750" y="3524250"/>
            <a:ext cx="30194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Combat dày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70DA1A84-92E6-40D6-A363-B63BFBD68280}"/>
              </a:ext>
            </a:extLst>
          </p:cNvPr>
          <p:cNvSpPr>
            <a:spLocks noGrp="1"/>
          </p:cNvSpPr>
          <p:nvPr/>
        </p:nvSpPr>
        <p:spPr>
          <a:xfrm>
            <a:off x="533400" y="3943350"/>
            <a:ext cx="333375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5E4B8C3C-8DFB-4EE4-A54E-2C3DD17581E0}"/>
              </a:ext>
            </a:extLst>
          </p:cNvPr>
          <p:cNvSpPr>
            <a:spLocks noGrp="1"/>
          </p:cNvSpPr>
          <p:nvPr/>
        </p:nvSpPr>
        <p:spPr>
          <a:xfrm>
            <a:off x="666750" y="4114800"/>
            <a:ext cx="3067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Kết thúc &amp; lưu kết quả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5A92CBB8-6A4A-4F41-B13B-D2792BB1AD89}"/>
              </a:ext>
            </a:extLst>
          </p:cNvPr>
          <p:cNvSpPr>
            <a:spLocks noGrp="1"/>
          </p:cNvSpPr>
          <p:nvPr/>
        </p:nvSpPr>
        <p:spPr>
          <a:xfrm>
            <a:off x="3867150" y="3943350"/>
            <a:ext cx="104775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F4A7EDAB-DD75-4792-A66D-87F6C4643C7A}"/>
              </a:ext>
            </a:extLst>
          </p:cNvPr>
          <p:cNvSpPr>
            <a:spLocks noGrp="1"/>
          </p:cNvSpPr>
          <p:nvPr/>
        </p:nvSpPr>
        <p:spPr>
          <a:xfrm>
            <a:off x="4000500" y="4114800"/>
            <a:ext cx="781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5DA395BD-89CF-4885-8CE4-3AFDD91A64BA}"/>
              </a:ext>
            </a:extLst>
          </p:cNvPr>
          <p:cNvSpPr>
            <a:spLocks noGrp="1"/>
          </p:cNvSpPr>
          <p:nvPr/>
        </p:nvSpPr>
        <p:spPr>
          <a:xfrm>
            <a:off x="4914900" y="3943350"/>
            <a:ext cx="142875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4A996207-BF74-4140-80B3-0C487EFE8B2D}"/>
              </a:ext>
            </a:extLst>
          </p:cNvPr>
          <p:cNvSpPr>
            <a:spLocks noGrp="1"/>
          </p:cNvSpPr>
          <p:nvPr/>
        </p:nvSpPr>
        <p:spPr>
          <a:xfrm>
            <a:off x="5048250" y="4114800"/>
            <a:ext cx="1162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C6421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C64216"/>
                </a:solidFill>
                <a:latin typeface="Arial"/>
                <a:ea typeface="Arial"/>
                <a:cs typeface="Arial"/>
              </a:rPr>
              <a:t>69 FPS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3E2337BB-D70C-4E99-A6DF-9F98E95C3EF7}"/>
              </a:ext>
            </a:extLst>
          </p:cNvPr>
          <p:cNvSpPr>
            <a:spLocks noGrp="1"/>
          </p:cNvSpPr>
          <p:nvPr/>
        </p:nvSpPr>
        <p:spPr>
          <a:xfrm>
            <a:off x="6343650" y="3943350"/>
            <a:ext cx="142875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408B3670-E52B-462A-95BB-3CEE77D321BD}"/>
              </a:ext>
            </a:extLst>
          </p:cNvPr>
          <p:cNvSpPr>
            <a:spLocks noGrp="1"/>
          </p:cNvSpPr>
          <p:nvPr/>
        </p:nvSpPr>
        <p:spPr>
          <a:xfrm>
            <a:off x="6477000" y="4114800"/>
            <a:ext cx="1162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C6421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C64216"/>
                </a:solidFill>
                <a:latin typeface="Arial"/>
                <a:ea typeface="Arial"/>
                <a:cs typeface="Arial"/>
              </a:rPr>
              <a:t>65 ms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66D5D074-21BD-48D1-84D2-84865490AC34}"/>
              </a:ext>
            </a:extLst>
          </p:cNvPr>
          <p:cNvSpPr>
            <a:spLocks noGrp="1"/>
          </p:cNvSpPr>
          <p:nvPr/>
        </p:nvSpPr>
        <p:spPr>
          <a:xfrm>
            <a:off x="7772400" y="3943350"/>
            <a:ext cx="3286125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7190BD25-AAED-4BA6-A6FE-1923C4EE5A57}"/>
              </a:ext>
            </a:extLst>
          </p:cNvPr>
          <p:cNvSpPr>
            <a:spLocks noGrp="1"/>
          </p:cNvSpPr>
          <p:nvPr/>
        </p:nvSpPr>
        <p:spPr>
          <a:xfrm>
            <a:off x="7905750" y="4114800"/>
            <a:ext cx="30194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Quan sát end_match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513418C8-BECD-4176-8F46-03BBB38B5069}"/>
              </a:ext>
            </a:extLst>
          </p:cNvPr>
          <p:cNvSpPr>
            <a:spLocks noGrp="1"/>
          </p:cNvSpPr>
          <p:nvPr/>
        </p:nvSpPr>
        <p:spPr>
          <a:xfrm>
            <a:off x="838200" y="5000625"/>
            <a:ext cx="133350" cy="133350"/>
          </a:xfrm>
          <a:prstGeom prst="rect">
            <a:avLst/>
          </a:prstGeom>
          <a:solidFill>
            <a:srgbClr val="111111"/>
          </a:solidFill>
          <a:ln w="0">
            <a:noFill/>
            <a:prstDash val="solid"/>
          </a:ln>
        </p:spPr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2F47D294-490F-4054-BE05-0CAF84CA07FA}"/>
              </a:ext>
            </a:extLst>
          </p:cNvPr>
          <p:cNvSpPr>
            <a:spLocks noGrp="1"/>
          </p:cNvSpPr>
          <p:nvPr/>
        </p:nvSpPr>
        <p:spPr>
          <a:xfrm>
            <a:off x="1123950" y="4933950"/>
            <a:ext cx="9715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TC01-TC11: đăng nhập, tạo phòng, ready, vào trận, combat, vật phẩm, revive, end_match đều đạt.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8950BCC6-1928-4A54-AA28-7D54E868A58C}"/>
              </a:ext>
            </a:extLst>
          </p:cNvPr>
          <p:cNvSpPr>
            <a:spLocks noGrp="1"/>
          </p:cNvSpPr>
          <p:nvPr/>
        </p:nvSpPr>
        <p:spPr>
          <a:xfrm>
            <a:off x="838200" y="5534025"/>
            <a:ext cx="133350" cy="133350"/>
          </a:xfrm>
          <a:prstGeom prst="rect">
            <a:avLst/>
          </a:prstGeom>
          <a:solidFill>
            <a:srgbClr val="111111"/>
          </a:solidFill>
          <a:ln w="0">
            <a:noFill/>
            <a:prstDash val="solid"/>
          </a:ln>
        </p:spPr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76A809C5-E774-4F72-8AA6-A7CD948A51F5}"/>
              </a:ext>
            </a:extLst>
          </p:cNvPr>
          <p:cNvSpPr>
            <a:spLocks noGrp="1"/>
          </p:cNvSpPr>
          <p:nvPr/>
        </p:nvSpPr>
        <p:spPr>
          <a:xfrm>
            <a:off x="1123950" y="5467350"/>
            <a:ext cx="9715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Kiểm thử lỗi mạng đạt ở mức cơ bản; chưa có reconnect tự động đầy đủ hoặc host migration chuyên biệt.</a:t>
            </a:r>
          </a:p>
        </p:txBody>
      </p:sp>
    </p:spTree>
    <p:extLst>
      <p:ext uri="{BB962C8B-B14F-4D97-AF65-F5344CB8AC3E}">
        <p14:creationId xmlns:p14="http://schemas.microsoft.com/office/powerpoint/2010/main" val="11495184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7FBB334-C984-4634-B4B3-3BB079999CE6}"/>
              </a:ext>
            </a:extLst>
          </p:cNvPr>
          <p:cNvSpPr>
            <a:spLocks noGrp="1"/>
          </p:cNvSpPr>
          <p:nvPr/>
        </p:nvSpPr>
        <p:spPr>
          <a:xfrm>
            <a:off x="400050" y="342900"/>
            <a:ext cx="85725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1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Kết luận và hướng phát triển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F796C58-9B7E-4706-997D-99DAA4065687}"/>
              </a:ext>
            </a:extLst>
          </p:cNvPr>
          <p:cNvSpPr>
            <a:spLocks noGrp="1"/>
          </p:cNvSpPr>
          <p:nvPr/>
        </p:nvSpPr>
        <p:spPr>
          <a:xfrm>
            <a:off x="419100" y="1123950"/>
            <a:ext cx="7048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Đồ án đã hoàn thành demo game 3D co-op survival với kiến trúc client-server rõ ràng.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BAFFDE7-7154-4223-B921-A9FE899BAB4A}"/>
              </a:ext>
            </a:extLst>
          </p:cNvPr>
          <p:cNvSpPr>
            <a:spLocks noGrp="1"/>
          </p:cNvSpPr>
          <p:nvPr/>
        </p:nvSpPr>
        <p:spPr>
          <a:xfrm>
            <a:off x="11315700" y="6286500"/>
            <a:ext cx="47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3"/>
          <a:srcRect t="74" b="74"/>
          <a:stretch>
            <a:fillRect/>
          </a:stretch>
        </p:blipFill>
        <p:spPr>
          <a:xfrm>
            <a:off x="6572250" y="1428750"/>
            <a:ext cx="4953000" cy="295275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78DAF349-CC32-4D5F-8A2E-AC4867C7826A}"/>
              </a:ext>
            </a:extLst>
          </p:cNvPr>
          <p:cNvSpPr>
            <a:spLocks noGrp="1"/>
          </p:cNvSpPr>
          <p:nvPr/>
        </p:nvSpPr>
        <p:spPr>
          <a:xfrm>
            <a:off x="666750" y="1743075"/>
            <a:ext cx="133350" cy="133350"/>
          </a:xfrm>
          <a:prstGeom prst="rect">
            <a:avLst/>
          </a:prstGeom>
          <a:solidFill>
            <a:srgbClr val="111111"/>
          </a:solidFill>
          <a:ln w="0">
            <a:noFill/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0CDA8D1-04D1-4038-8E49-B1F407769948}"/>
              </a:ext>
            </a:extLst>
          </p:cNvPr>
          <p:cNvSpPr>
            <a:spLocks noGrp="1"/>
          </p:cNvSpPr>
          <p:nvPr/>
        </p:nvSpPr>
        <p:spPr>
          <a:xfrm>
            <a:off x="952500" y="1676400"/>
            <a:ext cx="5000625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Hoàn thành luồng: account → lobby → room → match → gameplay → kết quả → lịch sử.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DD908D9-1A36-4A73-AB69-AF431618DE33}"/>
              </a:ext>
            </a:extLst>
          </p:cNvPr>
          <p:cNvSpPr>
            <a:spLocks noGrp="1"/>
          </p:cNvSpPr>
          <p:nvPr/>
        </p:nvSpPr>
        <p:spPr>
          <a:xfrm>
            <a:off x="666750" y="2619375"/>
            <a:ext cx="133350" cy="133350"/>
          </a:xfrm>
          <a:prstGeom prst="rect">
            <a:avLst/>
          </a:prstGeom>
          <a:solidFill>
            <a:srgbClr val="111111"/>
          </a:solidFill>
          <a:ln w="0">
            <a:noFill/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8161A24-2B2F-4EEC-AA7E-AB793980C534}"/>
              </a:ext>
            </a:extLst>
          </p:cNvPr>
          <p:cNvSpPr>
            <a:spLocks noGrp="1"/>
          </p:cNvSpPr>
          <p:nvPr/>
        </p:nvSpPr>
        <p:spPr>
          <a:xfrm>
            <a:off x="952500" y="2552700"/>
            <a:ext cx="5000625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Tách rõ Supabase cho nghiệp vụ/lưu trữ và Photon Fusion cho realtime gameplay.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97884DC-D8C7-4229-B217-F3FEECF46902}"/>
              </a:ext>
            </a:extLst>
          </p:cNvPr>
          <p:cNvSpPr>
            <a:spLocks noGrp="1"/>
          </p:cNvSpPr>
          <p:nvPr/>
        </p:nvSpPr>
        <p:spPr>
          <a:xfrm>
            <a:off x="666750" y="3495675"/>
            <a:ext cx="133350" cy="133350"/>
          </a:xfrm>
          <a:prstGeom prst="rect">
            <a:avLst/>
          </a:prstGeom>
          <a:solidFill>
            <a:srgbClr val="111111"/>
          </a:solidFill>
          <a:ln w="0">
            <a:noFill/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2F23267-B31C-4698-9BA9-A7BAC5C22BFA}"/>
              </a:ext>
            </a:extLst>
          </p:cNvPr>
          <p:cNvSpPr>
            <a:spLocks noGrp="1"/>
          </p:cNvSpPr>
          <p:nvPr/>
        </p:nvSpPr>
        <p:spPr>
          <a:xfrm>
            <a:off x="952500" y="3429000"/>
            <a:ext cx="5000625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Gameplay có combat, enemy wave, item, revive và thống kê đóng góp người chơi.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0484812-DC79-428C-9423-63A6265931C5}"/>
              </a:ext>
            </a:extLst>
          </p:cNvPr>
          <p:cNvSpPr>
            <a:spLocks noGrp="1"/>
          </p:cNvSpPr>
          <p:nvPr/>
        </p:nvSpPr>
        <p:spPr>
          <a:xfrm>
            <a:off x="666750" y="4371975"/>
            <a:ext cx="133350" cy="133350"/>
          </a:xfrm>
          <a:prstGeom prst="rect">
            <a:avLst/>
          </a:prstGeom>
          <a:solidFill>
            <a:srgbClr val="FF6B35"/>
          </a:solidFill>
          <a:ln w="0">
            <a:noFill/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19C64FA-8099-4382-A96F-FDE02DE0828F}"/>
              </a:ext>
            </a:extLst>
          </p:cNvPr>
          <p:cNvSpPr>
            <a:spLocks noGrp="1"/>
          </p:cNvSpPr>
          <p:nvPr/>
        </p:nvSpPr>
        <p:spPr>
          <a:xfrm>
            <a:off x="952500" y="4305300"/>
            <a:ext cx="5000625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Hướng phát triển: dedicated server, matchmaking, reconnect, nhiều map/chế độ chơi và chống gian lận sâu hơn.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802A5DD-97A3-495C-8533-9C276ACDA87E}"/>
              </a:ext>
            </a:extLst>
          </p:cNvPr>
          <p:cNvSpPr>
            <a:spLocks noGrp="1"/>
          </p:cNvSpPr>
          <p:nvPr/>
        </p:nvSpPr>
        <p:spPr>
          <a:xfrm>
            <a:off x="6610350" y="5010150"/>
            <a:ext cx="48768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Cảm ơn thầy cô đã lắng nghe</a:t>
            </a:r>
          </a:p>
        </p:txBody>
      </p:sp>
    </p:spTree>
    <p:extLst>
      <p:ext uri="{BB962C8B-B14F-4D97-AF65-F5344CB8AC3E}">
        <p14:creationId xmlns:p14="http://schemas.microsoft.com/office/powerpoint/2010/main" val="4577260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1211</Words>
  <Application>Microsoft Office PowerPoint</Application>
  <DocSecurity>0</DocSecurity>
  <PresentationFormat>Widescreen</PresentationFormat>
  <Paragraphs>136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Hoàng Anh Vũ</cp:lastModifiedBy>
  <cp:revision>1</cp:revision>
  <dcterms:created xsi:type="dcterms:W3CDTF">2026-06-24T16:20:25Z</dcterms:created>
  <dcterms:modified xsi:type="dcterms:W3CDTF">2026-06-24T16:25:18Z</dcterms:modified>
</cp:coreProperties>
</file>